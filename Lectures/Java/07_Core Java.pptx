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87" r:id="rId3"/>
    <p:sldId id="288" r:id="rId4"/>
    <p:sldId id="289" r:id="rId5"/>
    <p:sldId id="290" r:id="rId6"/>
    <p:sldId id="291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6" r:id="rId16"/>
    <p:sldId id="268" r:id="rId17"/>
    <p:sldId id="269" r:id="rId18"/>
    <p:sldId id="270" r:id="rId19"/>
    <p:sldId id="271" r:id="rId20"/>
    <p:sldId id="272" r:id="rId21"/>
    <p:sldId id="275" r:id="rId22"/>
    <p:sldId id="273" r:id="rId23"/>
    <p:sldId id="280" r:id="rId24"/>
    <p:sldId id="276" r:id="rId25"/>
    <p:sldId id="277" r:id="rId26"/>
    <p:sldId id="278" r:id="rId27"/>
    <p:sldId id="279" r:id="rId28"/>
    <p:sldId id="292" r:id="rId29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7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8:20:15.6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8:43:07.0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8:16.7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1083 24575,'0'2'0,"0"-1"0,1 1 0,-1 0 0,0 0 0,1 0 0,0 0 0,-1 0 0,1-1 0,0 1 0,0 0 0,0-1 0,0 1 0,0 0 0,1-1 0,-1 1 0,0-1 0,1 0 0,-1 1 0,1-1 0,-1 0 0,1 0 0,-1 0 0,4 1 0,5 3 0,0-1 0,1 0 0,12 2 0,-6-1 0,63 19 0,493 136 0,-475-140 0,2-5 0,0-4 0,173-3 0,-196-8 0,119-8 0,-172 5 0,-1-1 0,0-1 0,0-1 0,0-1 0,-1-1 0,28-14 0,-12 1 0,56-38 0,-77 47 0,-1-2 0,0 0 0,-1-1 0,-1 0 0,16-23 0,-13 15 0,-2-1 0,-1-1 0,-1-1 0,-1 0 0,13-44 0,-19 52 0,-1-1 0,-2 0 0,0 0 0,0 0 0,-2-1 0,-1 1 0,0 0 0,-1-1 0,-5-22 0,3 32 0,0-1 0,-1 1 0,0-1 0,-1 1 0,0 0 0,-1 1 0,0 0 0,0-1 0,-1 2 0,-13-14 0,-9-7 0,-52-37 0,47 38 0,-104-88 0,-112-86 0,217 181 0,-1 1 0,0 2 0,-2 1 0,0 2 0,0 2 0,-1 1 0,-1 2 0,0 1 0,-46-4 0,-44 2 0,-184 8 0,213 4 0,92-1 0,0 0 0,0 1 0,0-1 0,0 1 0,0 1 0,0-1 0,0 1 0,0 0 0,-8 5 0,10-4 0,0 0 0,0 1 0,1 0 0,-1 0 0,1 0 0,0 1 0,0-1 0,1 1 0,-1 0 0,1 0 0,-4 7 0,-50 91-1365,46-84-5461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8:20.0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24575,'572'0'0,"-523"2"0,48 8 0,14 2 0,66-12 0,36 3 0,-117 9 0,44 3 0,29-15-1365,-145 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8:21.2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23209,'1080'-54'0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8:35.4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21389,'1784'0'0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8:41.0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83 24575,'1230'60'0,"-1054"-47"0,562 51 0,-476-30 0,-118-13 0,194 4 0,-197-24 0,200-4 0,-273-3 0,1-2 0,-2-4 0,0-2 0,101-36 0,-71 6 0,-11 4 0,-19 13 0,-28 10 0,1 2 0,65-16 0,-36 18-455,1 3 0,90-1 0,-137 11-6371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8:43.2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56 24575,'397'-22'0,"-214"9"0,1072-8-126,-874 23-1113,-357-2-5587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9:02.0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56 24575,'564'-28'0,"44"1"0,-477 28-1365,-109-1-5461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9:06.7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24575,'0'5'0,"0"6"0,0 5 0,0 10 0,0 14 0,0 10 0,0 4 0,0-1 0,0-1 0,0 0 0,0-4 0,0-6 0,0-5 0,0-5 0,0-3 0,0-6-8191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9:08.2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0 158 24575,'48'0'0,"0"-2"0,0-3 0,69-15 0,23-21 0,-48 12 0,12 8 0,-71 16 0,58-18 0,-70 17-1365,-3 1-5461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8:46.3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24575,'0'5'0,"0"5"0,0 11 0,0 11 0,5 14 0,1 17 0,-1 12 0,0 2 0,-2 2 0,-1-3 0,0-10 0,-2-12 0,0-15-8191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8:47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83 24575,'5'0'0,"19"-4"0,33-7 0,31-1 0,22 2 0,17-3 0,-1 2 0,-7 2 0,-20 3 0,-21 2 0,-21 2 0,-19 1-8191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8:48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4 882 24575,'-2'42'0,"1"-26"0,1-1 0,0 1 0,1 0 0,0-1 0,5 20 0,-6-35 0,0 1 0,0-1 0,0 1 0,0-1 0,0 1 0,0-1 0,0 1 0,0-1 0,0 1 0,0-1 0,1 0 0,-1 1 0,0-1 0,0 1 0,1-1 0,-1 1 0,0-1 0,0 0 0,1 1 0,-1-1 0,1 1 0,-1-1 0,0 0 0,1 0 0,-1 1 0,1-1 0,-1 0 0,1 0 0,-1 1 0,0-1 0,1 0 0,-1 0 0,1 0 0,-1 0 0,1 0 0,-1 0 0,1 0 0,-1 0 0,1 0 0,-1 0 0,1 0 0,-1 0 0,1 0 0,0 0 0,1-2 0,0 1 0,0-1 0,0 0 0,0 1 0,-1-1 0,1 0 0,-1 0 0,3-4 0,149-250 0,-42 68 0,-111 187-3,362-551-1359,-338 520-5464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8:50.7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251 0 24575,'-21'18'0,"-30"20"0,1 0 0,33-24 0,2-3 0,1 1 0,0 0 0,1 1 0,-21 27 0,31-36 0,1 0 0,-1 0 0,1 0 0,0 1 0,0-1 0,1 1 0,-1-1 0,1 1 0,0 0 0,0-1 0,1 1 0,-1 0 0,1 0 0,0 0 0,0-1 0,1 1 0,-1 0 0,1 0 0,0-1 0,0 1 0,1-1 0,-1 1 0,5 7 0,-4-8 0,1-1 0,-1 0 0,0 0 0,1 0 0,0 0 0,0-1 0,0 1 0,0-1 0,0 0 0,1 0 0,-1 0 0,1 0 0,-1 0 0,1-1 0,-1 1 0,1-1 0,0 0 0,0 0 0,0-1 0,7 1 0,10 1 0,1-2 0,36-3 0,-25 1 0,-18 2 0,0-1 0,0-1 0,0 0 0,0-1 0,0-1 0,16-6 0,-27 9 0,1-1 0,-1 0 0,0 0 0,0 0 0,0-1 0,0 1 0,-1-1 0,1 0 0,-1 0 0,0-1 0,1 1 0,-2 0 0,1-1 0,0 0 0,-1 0 0,1 0 0,-1 0 0,0 0 0,0 0 0,-1-1 0,1 1 0,-1-1 0,1-8 0,2-79 0,-4 83 0,0 0 0,-1 0 0,0 0 0,-1 1 0,0-1 0,0 0 0,-7-16 0,6 23-56,6 13 196,7 16-1589,0-5-5377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8:52.2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24575,'4'0'0,"7"0"0,10 4 0,2 7 0,2 1 0,0 3 0,-3 3 0,-2 0 0,2-4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8:54.0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0 161 24575,'1'3'0,"-1"0"0,1 1 0,0-1 0,0 0 0,0 0 0,0 0 0,0 0 0,1 0 0,-1 0 0,1 0 0,3 4 0,26 30 0,-25-31 0,9 10 0,1 0 0,1-1 0,33 24 0,-39-32 0,0-1 0,0-1 0,0 1 0,1-2 0,-1 0 0,1 0 0,0-1 0,21 3 0,-19-4 0,1-1 0,-1 0 0,1-1 0,-1-1 0,20-2 0,-28 1 0,-1 1 0,1-1 0,0 0 0,-1 0 0,1-1 0,-1 1 0,0-1 0,0-1 0,0 1 0,0-1 0,-1 0 0,1 0 0,-1 0 0,0 0 0,6-9 0,-4 4 0,0 0 0,-1-1 0,0 0 0,-1 0 0,0 0 0,0-1 0,-1 1 0,-1-1 0,2-13 0,0-12 0,-3-52 0,0 13 0,3 69 0,4 13 0,9 19 0,54 116 0,64 180 0,-132-314 0,53 144 0,60 251 0,-97-309 0,-4 1 0,-4 0 0,-4 1 0,-6 102 0,-1-195 0,-1 16 0,0-1 0,-7 31 0,6-42 0,0 0 0,-1 0 0,0 1 0,0-2 0,-1 1 0,0 0 0,0-1 0,-1 0 0,-6 8 0,-10 7 0,0 0 0,-1-2 0,-29 19 0,-78 46 0,113-75-455,0-1 0,-17 7 0,8-6-6371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8:55.7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24575,'0'4'0,"5"11"0,1 8 0,4 13 0,5 20 0,1 4 0,1 6 0,-1 0 0,-5 0 0,-3-9 0,2-12 0,-2-11 0,-2-5 0,-1-4 0,2-6 0,0-1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9:10.6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0 764 24575,'37'-2'0,"0"-1"0,0-2 0,0-1 0,-1-2 0,0-2 0,43-17 0,1-7 0,112-64 0,-183 93 0,32-17 0,-1-1 0,-2-2 0,68-58 0,-97 76 0,0 1 0,0 0 0,1 0 0,0 1 0,0 0 0,0 0 0,0 2 0,22-6 0,4-3 0,6-1 0,45-7 0,15-5 0,-99 25 0,-1-1 0,1 0 0,0 1 0,-1-1 0,1-1 0,0 1 0,-1 0 0,0-1 0,1 1 0,-1-1 0,0 1 0,0-1 0,0 0 0,0 0 0,0 0 0,3-4 0,-5 5 0,0 0 0,0 0 0,1 0 0,-1 0 0,0 0 0,0 0 0,0 0 0,0 0 0,0 1 0,0-1 0,0 0 0,0 0 0,-1 0 0,1 0 0,0 0 0,0 0 0,-1 0 0,1 0 0,-1-1 0,-1 0 0,0-1 0,0 1 0,0-1 0,-1 1 0,1 0 0,-1 0 0,1 0 0,-4-2 0,-34-20 0,-1 2 0,-74-27 0,36 17 0,26 10 0,28 13 0,1-2 0,-38-21 0,62 32 0,0 0 0,-1 0 0,1 0 0,-1-1 0,1 1 0,0 0 0,-1 0 0,1-1 0,-1 1 0,1 0 0,0 0 0,-1-1 0,1 1 0,0 0 0,0-1 0,-1 1 0,1 0 0,0-1 0,0 1 0,-1-1 0,1 1 0,0 0 0,0-1 0,0 1 0,0-1 0,0 1 0,0-1 0,0 1 0,0-1 0,0 0 0,12-5 0,27 3 0,-37 3 0,91 0 0,0 4 0,0 5 0,115 24 0,-182-28 0,-18-4 0,0 0 0,0 1 0,-1 0 0,1 0 0,13 7 0,-18-7 0,0 0 0,0 0 0,-1 0 0,1 0 0,-1 1 0,1-1 0,-1 1 0,0-1 0,0 1 0,0 0 0,-1 0 0,1 0 0,-1 0 0,1 0 0,-1 1 0,0-1 0,1 6 0,7 47 0,-2 1 0,-3 0 0,-5 102 0,0-74 0,1-52-93,0-10-331,0-1 0,-6 39 0,0-36-6402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9:24.9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24575,'4'0'0,"7"0"0,6 0 0,4 0 0,4 0 0,1 0 0,2 0 0,0 0 0,1 0 0,-1 0 0,-5 0-8191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9:27.9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23761,'918'81'0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8:32.2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24575,'1218'0'-1365,"-1195"0"-5461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8:33.9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24575,'6'5'0,"-1"-1"0,1 0 0,0 0 0,0 0 0,1-1 0,-1 1 0,1-2 0,10 4 0,61 13 0,-45-12 0,15 4 0,164 34 0,-162-37 0,0-2 0,68-2 0,872-7 0,-551 4 0,-412-2 43,0-2 0,31-7 0,-29 5-790,44-3 0,-50 7-6079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9:19.9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24575,'1695'0'-1365,"-1666"0"-5461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9:20.3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9:28.6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24575,'4'0'0,"12"0"0,6 0 0,10 0 0,3 0 0,6 0 0,4 0 0,0 0 0,1 0 0,-3 0 0,-4 0 0,-4 0 0,-8 0-8191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9:29.3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24575,'5'0'0,"10"0"0,13 0 0,14 0 0,19 0 0,17 0 0,19 4 0,7 2 0,-2 0 0,-3 3 0,-5 1 0,-14-2 0,-11-3 0,-14-1 0,-10-2 0,-14-1-8191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9:29:34.8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23965,'2540'-53'0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1CD80-6EC8-38A6-BC98-B2332FD05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7821E9-DCD1-5FB0-E9F6-549354E809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C3ADB-C566-7FE5-62AA-A9D78AB58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BCEC-8D5A-4790-9766-3C5BCBC01830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2512A-1FB9-CDD9-56EC-58A301CE4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B6980-7407-6BA0-80BF-23D09FD6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5A7AF-33C7-4BF0-BC46-3CD8B0CEA77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503744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61843-5A2A-7577-3E17-C142AC541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38539-5706-86B6-6A88-0D6A8DC0C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C0ADE-4B4A-65AA-296D-9AF73BE26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BCEC-8D5A-4790-9766-3C5BCBC01830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B6F07-F296-A40A-6903-A0870E985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EEC86-490E-4074-A506-66F56E951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5A7AF-33C7-4BF0-BC46-3CD8B0CEA77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493138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01562-1780-DEE8-58C1-7D94C5411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D4568-FABE-446D-B528-3D35B1AA6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EC953-94DF-0226-BBD9-4A0B77B52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BCEC-8D5A-4790-9766-3C5BCBC01830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94C35-F9A4-A7FC-33C9-6177AE5E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56912-B925-402C-0A7A-6C6BBB6F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5A7AF-33C7-4BF0-BC46-3CD8B0CEA77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309507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65B13-D270-13F6-A79F-98EC88489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EF9AE-C5BE-2302-57BF-5055C71362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69B22-8FB2-0FE9-B5E1-664B2CD5C9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A4EB8-11E3-2579-FF41-4D62A507E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BCEC-8D5A-4790-9766-3C5BCBC01830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E16DA-E490-C219-F21B-0ED715433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AAD80-0118-B325-FBDF-746A460F1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5A7AF-33C7-4BF0-BC46-3CD8B0CEA77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45127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387EE-AB2F-38C3-585C-10159FCAE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448D3-3662-3904-7F44-D6D0C8E20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CE6FB-6CE5-AC07-1644-05C086265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265728-D25F-34B2-2E4B-2C8AF008B1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A8D472-0C00-8F51-467D-EDC242C03C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970D43-5EFC-4182-C35F-1FEF780F9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BCEC-8D5A-4790-9766-3C5BCBC01830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8B9B5-33C6-A188-06A1-D10967442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60E804-C174-C294-FF40-787480A7E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5A7AF-33C7-4BF0-BC46-3CD8B0CEA77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784538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F545C-3731-7C90-2DDC-41481FD41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6D16A6-C70C-F4E6-F2F0-C547BC001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BCEC-8D5A-4790-9766-3C5BCBC01830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C25E4C-F027-CC63-0FC2-1C8EA20D5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06AA9A-265D-2411-BE08-91B1A9B03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5A7AF-33C7-4BF0-BC46-3CD8B0CEA77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889207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EE72C7-53E7-FBB8-1408-E09FE5737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BCEC-8D5A-4790-9766-3C5BCBC01830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2EC682-63CB-EC77-DFF5-A8D70E3BD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D3940-EFDD-38A5-547B-EBB4B17C2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5A7AF-33C7-4BF0-BC46-3CD8B0CEA77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271311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3A77E-7B65-6EEF-0AF7-7B3432072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480E4-7604-9BED-2F51-8E43F6B04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EB5B7-C478-3507-EDC1-2C2A4B782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D8644-E2D7-F6E8-C153-E58867002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BCEC-8D5A-4790-9766-3C5BCBC01830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55E18-6D3F-F2AC-58AE-033987E43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1648D-ED33-1B3A-39DD-68E853A5C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5A7AF-33C7-4BF0-BC46-3CD8B0CEA77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63527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E9779-3FF2-D4D7-95B0-C4DD93E0F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A531E-89A9-A0FD-5993-944C884F45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84D558-50A3-659C-5444-2B106DB4D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AB830-D2F3-ACED-38EA-FEBA3EBA8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BCEC-8D5A-4790-9766-3C5BCBC01830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5474A-8485-B456-BD05-A6E9C7494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6E5D1-F169-C58F-F3FC-9C623C10F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5A7AF-33C7-4BF0-BC46-3CD8B0CEA77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244838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BB790-E82F-1240-1C88-D13D5C931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738179-22F4-DC00-6B47-6ABA0D643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40AAC-8645-174A-139C-4F4E2C8C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BCEC-8D5A-4790-9766-3C5BCBC01830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1B1EC-9490-0CF0-F193-CC5629547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CA0EC-E710-2CA2-E2E4-4EE47E9E2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5A7AF-33C7-4BF0-BC46-3CD8B0CEA77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857855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714911-12A2-9624-0096-2AC4EF30CC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EA5527-7ACA-F6B0-3EB7-89B503DBA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BFF77-2166-CDB3-6442-598006D8D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BCEC-8D5A-4790-9766-3C5BCBC01830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DBC27-A86B-255A-76B6-C8C3F06AD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8EC48-531D-7B80-4D7F-2FF9D6C81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5A7AF-33C7-4BF0-BC46-3CD8B0CEA77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10601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FBF175-4117-0E97-C98B-3978442F2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5B282-D1B0-79EA-ED76-485564685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F6FCE-54B3-18C4-D742-82CF0D296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56BCEC-8D5A-4790-9766-3C5BCBC01830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944E4-8E32-6918-6759-241042EB2A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02027-FB72-7971-06D3-3F0EED12C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85A7AF-33C7-4BF0-BC46-3CD8B0CEA77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167416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133.png"/><Relationship Id="rId26" Type="http://schemas.openxmlformats.org/officeDocument/2006/relationships/image" Target="../media/image9.png"/><Relationship Id="rId39" Type="http://schemas.openxmlformats.org/officeDocument/2006/relationships/customXml" Target="../ink/ink16.xml"/><Relationship Id="rId3" Type="http://schemas.openxmlformats.org/officeDocument/2006/relationships/customXml" Target="../ink/ink3.xml"/><Relationship Id="rId21" Type="http://schemas.openxmlformats.org/officeDocument/2006/relationships/customXml" Target="../ink/ink8.xml"/><Relationship Id="rId34" Type="http://schemas.openxmlformats.org/officeDocument/2006/relationships/image" Target="../media/image141.png"/><Relationship Id="rId42" Type="http://schemas.openxmlformats.org/officeDocument/2006/relationships/image" Target="../media/image145.png"/><Relationship Id="rId47" Type="http://schemas.openxmlformats.org/officeDocument/2006/relationships/customXml" Target="../ink/ink20.xml"/><Relationship Id="rId50" Type="http://schemas.openxmlformats.org/officeDocument/2006/relationships/image" Target="../media/image149.png"/><Relationship Id="rId55" Type="http://schemas.openxmlformats.org/officeDocument/2006/relationships/customXml" Target="../ink/ink24.xml"/><Relationship Id="rId63" Type="http://schemas.openxmlformats.org/officeDocument/2006/relationships/customXml" Target="../ink/ink28.xml"/><Relationship Id="rId12" Type="http://schemas.openxmlformats.org/officeDocument/2006/relationships/image" Target="../media/image130.png"/><Relationship Id="rId25" Type="http://schemas.openxmlformats.org/officeDocument/2006/relationships/customXml" Target="../ink/ink10.xml"/><Relationship Id="rId33" Type="http://schemas.openxmlformats.org/officeDocument/2006/relationships/customXml" Target="../ink/ink13.xml"/><Relationship Id="rId38" Type="http://schemas.openxmlformats.org/officeDocument/2006/relationships/image" Target="../media/image143.png"/><Relationship Id="rId46" Type="http://schemas.openxmlformats.org/officeDocument/2006/relationships/image" Target="../media/image147.png"/><Relationship Id="rId59" Type="http://schemas.openxmlformats.org/officeDocument/2006/relationships/customXml" Target="../ink/ink26.xml"/><Relationship Id="rId2" Type="http://schemas.openxmlformats.org/officeDocument/2006/relationships/image" Target="../media/image8.png"/><Relationship Id="rId20" Type="http://schemas.openxmlformats.org/officeDocument/2006/relationships/image" Target="../media/image134.png"/><Relationship Id="rId41" Type="http://schemas.openxmlformats.org/officeDocument/2006/relationships/customXml" Target="../ink/ink17.xml"/><Relationship Id="rId54" Type="http://schemas.openxmlformats.org/officeDocument/2006/relationships/image" Target="../media/image151.png"/><Relationship Id="rId6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4.xml"/><Relationship Id="rId24" Type="http://schemas.openxmlformats.org/officeDocument/2006/relationships/image" Target="../media/image136.png"/><Relationship Id="rId32" Type="http://schemas.openxmlformats.org/officeDocument/2006/relationships/image" Target="../media/image140.png"/><Relationship Id="rId37" Type="http://schemas.openxmlformats.org/officeDocument/2006/relationships/customXml" Target="../ink/ink15.xml"/><Relationship Id="rId40" Type="http://schemas.openxmlformats.org/officeDocument/2006/relationships/image" Target="../media/image144.png"/><Relationship Id="rId45" Type="http://schemas.openxmlformats.org/officeDocument/2006/relationships/customXml" Target="../ink/ink19.xml"/><Relationship Id="rId53" Type="http://schemas.openxmlformats.org/officeDocument/2006/relationships/customXml" Target="../ink/ink23.xml"/><Relationship Id="rId58" Type="http://schemas.openxmlformats.org/officeDocument/2006/relationships/image" Target="../media/image53.png"/><Relationship Id="rId15" Type="http://schemas.openxmlformats.org/officeDocument/2006/relationships/customXml" Target="../ink/ink6.xml"/><Relationship Id="rId23" Type="http://schemas.openxmlformats.org/officeDocument/2006/relationships/customXml" Target="../ink/ink9.xml"/><Relationship Id="rId36" Type="http://schemas.openxmlformats.org/officeDocument/2006/relationships/image" Target="../media/image142.png"/><Relationship Id="rId49" Type="http://schemas.openxmlformats.org/officeDocument/2006/relationships/customXml" Target="../ink/ink21.xml"/><Relationship Id="rId57" Type="http://schemas.openxmlformats.org/officeDocument/2006/relationships/customXml" Target="../ink/ink25.xml"/><Relationship Id="rId61" Type="http://schemas.openxmlformats.org/officeDocument/2006/relationships/customXml" Target="../ink/ink27.xml"/><Relationship Id="rId10" Type="http://schemas.openxmlformats.org/officeDocument/2006/relationships/image" Target="../media/image129.png"/><Relationship Id="rId19" Type="http://schemas.openxmlformats.org/officeDocument/2006/relationships/customXml" Target="../ink/ink7.xml"/><Relationship Id="rId31" Type="http://schemas.openxmlformats.org/officeDocument/2006/relationships/customXml" Target="../ink/ink12.xml"/><Relationship Id="rId44" Type="http://schemas.openxmlformats.org/officeDocument/2006/relationships/image" Target="../media/image146.png"/><Relationship Id="rId52" Type="http://schemas.openxmlformats.org/officeDocument/2006/relationships/image" Target="../media/image150.png"/><Relationship Id="rId60" Type="http://schemas.openxmlformats.org/officeDocument/2006/relationships/image" Target="../media/image153.png"/><Relationship Id="rId73" Type="http://schemas.openxmlformats.org/officeDocument/2006/relationships/image" Target="../media/image158.png"/><Relationship Id="rId14" Type="http://schemas.openxmlformats.org/officeDocument/2006/relationships/image" Target="../media/image131.png"/><Relationship Id="rId22" Type="http://schemas.openxmlformats.org/officeDocument/2006/relationships/image" Target="../media/image135.png"/><Relationship Id="rId27" Type="http://schemas.openxmlformats.org/officeDocument/2006/relationships/customXml" Target="../ink/ink11.xml"/><Relationship Id="rId30" Type="http://schemas.openxmlformats.org/officeDocument/2006/relationships/image" Target="../media/image139.png"/><Relationship Id="rId35" Type="http://schemas.openxmlformats.org/officeDocument/2006/relationships/customXml" Target="../ink/ink14.xml"/><Relationship Id="rId43" Type="http://schemas.openxmlformats.org/officeDocument/2006/relationships/customXml" Target="../ink/ink18.xml"/><Relationship Id="rId48" Type="http://schemas.openxmlformats.org/officeDocument/2006/relationships/image" Target="../media/image148.png"/><Relationship Id="rId56" Type="http://schemas.openxmlformats.org/officeDocument/2006/relationships/image" Target="../media/image152.png"/><Relationship Id="rId51" Type="http://schemas.openxmlformats.org/officeDocument/2006/relationships/customXml" Target="../ink/ink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3EC04A-4BC0-7208-9BB8-937D15085E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539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15D5F-91FF-1D68-DDCE-46C41E536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847FF-C140-3865-8110-1BACC94BC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 dirty="0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321485A4-6D6E-8DFD-506B-0943A8B95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BD280BF-F124-FD56-DBB2-16427D5B6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A0F442-D69C-31FD-FFF0-9901EADCAA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A11F9D0-2C8C-B8F7-78CC-4EAE28F527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393847A-E8B6-C7D1-059F-A973FE761B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8E6619F9-08A1-9D2D-56CD-073CB5DE6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B3AF494-082C-849E-140D-66FB89E75A68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✍Lecture 3: </a:t>
            </a:r>
            <a:endParaRPr lang="ar-EG" sz="48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69D1961-B68F-FE6F-D767-4FA6A7BFC62D}"/>
              </a:ext>
            </a:extLst>
          </p:cNvPr>
          <p:cNvSpPr txBox="1">
            <a:spLocks/>
          </p:cNvSpPr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Primitive Data types . </a:t>
            </a:r>
          </a:p>
          <a:p>
            <a:r>
              <a:rPr lang="en-US" sz="2400" dirty="0"/>
              <a:t>Literals in java . </a:t>
            </a:r>
          </a:p>
          <a:p>
            <a:r>
              <a:rPr lang="en-US" sz="2400" dirty="0"/>
              <a:t>Variables . </a:t>
            </a:r>
          </a:p>
          <a:p>
            <a:r>
              <a:rPr lang="en-US" sz="2400" dirty="0"/>
              <a:t>Type Casting . </a:t>
            </a:r>
          </a:p>
          <a:p>
            <a:r>
              <a:rPr lang="en-US" sz="2400" dirty="0"/>
              <a:t>Arrays 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r>
              <a:rPr lang="en-US" sz="2400" b="1" dirty="0"/>
              <a:t>Lab 3.</a:t>
            </a:r>
            <a:endParaRPr lang="ar-EG" sz="24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4A1E862-B1A7-257A-469F-9F10BFD76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54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4F85E-3B4C-982B-B702-CE36483F1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12BE3-85AD-171A-DA83-9D6C730D0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 dirty="0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5B873552-B550-9EF9-D9CA-E42456AF6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42D99C6-2D2A-E656-7D75-5C56D1A81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0251621-7726-7B33-DCFA-FA85F3195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9A660F1-F89E-FBEF-E483-67D0A3180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33D427-3364-9B70-BF56-8AB33E299A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F8502CD-0CBE-D740-163C-B2AA6CF10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A25A5B3-E784-F291-21B1-4DAB18487A5F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✍Lecture 4 : </a:t>
            </a:r>
            <a:endParaRPr lang="ar-EG" sz="4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87F0024-7AC2-393A-8E31-0ECCF770AAC7}"/>
              </a:ext>
            </a:extLst>
          </p:cNvPr>
          <p:cNvSpPr txBox="1">
            <a:spLocks/>
          </p:cNvSpPr>
          <p:nvPr/>
        </p:nvSpPr>
        <p:spPr>
          <a:xfrm>
            <a:off x="1045028" y="2704014"/>
            <a:ext cx="9941319" cy="3438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ar-EG" sz="1400" dirty="0"/>
              <a:t>The Arithmetic and Bitwise Operators</a:t>
            </a:r>
          </a:p>
          <a:p>
            <a:r>
              <a:rPr lang="ar-EG" sz="1400" dirty="0"/>
              <a:t>The Relational and Boolean Logical Operators</a:t>
            </a:r>
          </a:p>
          <a:p>
            <a:r>
              <a:rPr lang="ar-EG" sz="1400" dirty="0"/>
              <a:t>The Ternary and instanceof Operators</a:t>
            </a:r>
          </a:p>
          <a:p>
            <a:r>
              <a:rPr lang="ar-EG" sz="1400" dirty="0"/>
              <a:t>Tha Arrow Operator and Lambda Expression</a:t>
            </a:r>
          </a:p>
          <a:p>
            <a:r>
              <a:rPr lang="ar-EG" sz="1400" dirty="0"/>
              <a:t>Selection Statements</a:t>
            </a:r>
          </a:p>
          <a:p>
            <a:r>
              <a:rPr lang="ar-EG" sz="1400" dirty="0"/>
              <a:t>Iteration Statements</a:t>
            </a:r>
          </a:p>
          <a:p>
            <a:r>
              <a:rPr lang="ar-EG" sz="1400" dirty="0"/>
              <a:t>Jump Statements</a:t>
            </a:r>
          </a:p>
          <a:p>
            <a:r>
              <a:rPr lang="ar-EG" sz="1400" dirty="0"/>
              <a:t>Java String</a:t>
            </a:r>
          </a:p>
          <a:p>
            <a:r>
              <a:rPr lang="ar-EG" sz="1400" dirty="0"/>
              <a:t>String Methods</a:t>
            </a:r>
          </a:p>
          <a:p>
            <a:r>
              <a:rPr lang="ar-EG" sz="1400" dirty="0"/>
              <a:t>StringBuffer, StringBuilder and StringTokenizer</a:t>
            </a:r>
            <a:endParaRPr lang="en-US" sz="1400" dirty="0"/>
          </a:p>
          <a:p>
            <a:r>
              <a:rPr lang="en-US" sz="1400" b="1" dirty="0"/>
              <a:t>Lab 4 . </a:t>
            </a:r>
            <a:endParaRPr lang="ar-EG" sz="1400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E24623-F8F4-E2F0-848A-F5C699C5D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863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1E5EC-5AD8-3069-80D5-040109AE6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63AA0-FCDE-A265-E057-E92F399C1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 dirty="0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B40D910F-87BB-F216-A903-D0BB48A97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6131AF8-1145-4B52-E964-46DE6B41C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D0F9D78-FB2C-3C3D-1F94-3112500EA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D7A92B7-B1F3-17AF-5D21-093DA5A0C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D25E39B-064E-89FB-AF41-891F1E327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9CF243D-8C48-6BDF-2C7E-DE7A443BE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EA77310-81CD-CE01-B1D8-4B9785AFB321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/>
              <a:t>✍Lecture 5 :</a:t>
            </a:r>
            <a:endParaRPr lang="ar-EG" sz="4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335AC49-154D-A687-F97A-F1FD0F21AC90}"/>
              </a:ext>
            </a:extLst>
          </p:cNvPr>
          <p:cNvSpPr txBox="1">
            <a:spLocks/>
          </p:cNvSpPr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/>
              <a:t>J</a:t>
            </a:r>
            <a:r>
              <a:rPr lang="ar-EG" sz="1500"/>
              <a:t>ava Packages </a:t>
            </a:r>
          </a:p>
          <a:p>
            <a:r>
              <a:rPr lang="ar-EG" sz="1500"/>
              <a:t>Import Packages </a:t>
            </a:r>
          </a:p>
          <a:p>
            <a:r>
              <a:rPr lang="ar-EG" sz="1500"/>
              <a:t>Interfaces </a:t>
            </a:r>
          </a:p>
          <a:p>
            <a:r>
              <a:rPr lang="ar-EG" sz="1500"/>
              <a:t>Implementing Interfaces </a:t>
            </a:r>
          </a:p>
          <a:p>
            <a:r>
              <a:rPr lang="ar-EG" sz="1500"/>
              <a:t>General Considerations </a:t>
            </a:r>
          </a:p>
          <a:p>
            <a:r>
              <a:rPr lang="ar-EG" sz="1500"/>
              <a:t>Functional Interfaces </a:t>
            </a:r>
          </a:p>
          <a:p>
            <a:r>
              <a:rPr lang="ar-EG" sz="1500"/>
              <a:t>Predefined Functional Interfaces </a:t>
            </a:r>
          </a:p>
          <a:p>
            <a:endParaRPr lang="ar-EG" sz="1500"/>
          </a:p>
          <a:p>
            <a:r>
              <a:rPr lang="en-US" sz="1500"/>
              <a:t>Lab 5 .</a:t>
            </a:r>
            <a:endParaRPr lang="ar-EG" sz="15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52EA5E0-2A91-55F0-3700-F2476E58F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04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F7186D9-BF64-C6BB-574A-3EA187FB2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FF94853-CCBB-681E-695B-6B6B27CBA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2173026-0CC4-4B18-8D7F-1FB1B9C747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38D1CAF-3DC9-F685-FA05-1245D34C4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F3C11C8-363C-6B79-13EF-B8FD55D40F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6873D2F-79AE-0A03-D6E3-D01DBC0CE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BF0F9B5-A781-5037-0A1D-AB65AE36D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✍Lecture 6 :</a:t>
            </a:r>
            <a:endParaRPr lang="ar-EG" sz="480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A4517901-529E-D690-FB56-66AEA8D01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000" dirty="0"/>
              <a:t>Wrapper Classes</a:t>
            </a:r>
          </a:p>
          <a:p>
            <a:r>
              <a:rPr lang="ar-EG" sz="2000" dirty="0"/>
              <a:t>Annotations</a:t>
            </a:r>
          </a:p>
          <a:p>
            <a:r>
              <a:rPr lang="ar-EG" sz="2000" dirty="0"/>
              <a:t>Annotations Basics</a:t>
            </a:r>
          </a:p>
          <a:p>
            <a:pPr marL="0" lvl="0" indent="0">
              <a:buNone/>
            </a:pPr>
            <a:endParaRPr lang="ar-EG" sz="1800" dirty="0"/>
          </a:p>
          <a:p>
            <a:pPr lvl="0"/>
            <a:r>
              <a:rPr lang="en-US" sz="2400" b="1" dirty="0"/>
              <a:t>Lab 6 .</a:t>
            </a:r>
            <a:endParaRPr lang="ar-EG" sz="2400" b="1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A9E5F07-FC0A-1F6D-CCB5-18FAD5566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977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9554D-8154-7F1C-E92C-288FD790D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41256-F793-E146-FBD0-3EAA6D8F5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 dirty="0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AD9D09F8-360C-11B9-9156-4A90940FE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0B3887F-634D-CD31-8923-5BACB3571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512384D-A8A2-C496-F55F-A2FAB317E9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6B9DA3-67BF-5ABC-983B-34EBA4DC3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BAE9DFF-4039-751B-9984-DA9FB2953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144CFC31-D7ED-6B20-FBC5-7C6C3641A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4FE90D3-1158-F8BB-4B58-EA578E2DB448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✍Lecture 7 :</a:t>
            </a:r>
            <a:endParaRPr lang="ar-EG" sz="4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B22D171-2106-515F-B5D2-44B170E3D79D}"/>
              </a:ext>
            </a:extLst>
          </p:cNvPr>
          <p:cNvSpPr txBox="1">
            <a:spLocks/>
          </p:cNvSpPr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Exception</a:t>
            </a:r>
          </a:p>
          <a:p>
            <a:r>
              <a:rPr lang="en-US" sz="2000" dirty="0"/>
              <a:t>Exception </a:t>
            </a:r>
            <a:r>
              <a:rPr lang="en-US" sz="2000" dirty="0" err="1"/>
              <a:t>Handlling</a:t>
            </a:r>
            <a:r>
              <a:rPr lang="en-US" sz="2000" dirty="0"/>
              <a:t> 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ar-EG" sz="1800" dirty="0"/>
          </a:p>
          <a:p>
            <a:r>
              <a:rPr lang="en-US" sz="2400" b="1" dirty="0"/>
              <a:t>Lab 7 .</a:t>
            </a:r>
            <a:endParaRPr lang="ar-EG" sz="2400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70B18F-C28A-02E5-8894-6ED0B30FF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665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99BF07-9AE6-61C9-C7BE-DD065DFD4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✍What is an Exception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3705D-096F-260E-1204-75DC4B81A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/>
              <a:t>An </a:t>
            </a:r>
            <a:r>
              <a:rPr lang="ar-EG" sz="2400" b="1"/>
              <a:t>Exception </a:t>
            </a:r>
            <a:r>
              <a:rPr lang="ar-EG" sz="2400"/>
              <a:t> is an event that occurs during program execution and interrupts the normal flow of the program.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ar-EG"/>
              <a:t>Happens while the program is running. </a:t>
            </a:r>
          </a:p>
          <a:p>
            <a:pPr marL="914400" lvl="1" indent="-457200">
              <a:buFont typeface="+mj-lt"/>
              <a:buAutoNum type="arabicPeriod"/>
            </a:pPr>
            <a:r>
              <a:rPr lang="ar-EG"/>
              <a:t>Represents an unexpected problem. </a:t>
            </a:r>
          </a:p>
          <a:p>
            <a:pPr marL="914400" lvl="1" indent="-457200">
              <a:buFont typeface="+mj-lt"/>
              <a:buAutoNum type="arabicPeriod"/>
            </a:pPr>
            <a:r>
              <a:rPr lang="ar-EG"/>
              <a:t>If not handled, the program may terminate.</a:t>
            </a:r>
          </a:p>
          <a:p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689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97C271-DA01-D1DE-A2F4-D97C532A5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✍Why Do Exceptions Occur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537E7-551D-A474-F27A-B8B5D72C0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>
                <a:solidFill>
                  <a:schemeClr val="accent1"/>
                </a:solidFill>
              </a:rPr>
              <a:t>Common reasons:</a:t>
            </a:r>
          </a:p>
          <a:p>
            <a:pPr lvl="1"/>
            <a:r>
              <a:rPr lang="ar-EG" sz="2000" dirty="0"/>
              <a:t>Division by zero </a:t>
            </a:r>
          </a:p>
          <a:p>
            <a:pPr lvl="1"/>
            <a:r>
              <a:rPr lang="ar-EG" sz="2000" dirty="0"/>
              <a:t>Accessing an invalid array index </a:t>
            </a:r>
          </a:p>
          <a:p>
            <a:pPr lvl="1"/>
            <a:r>
              <a:rPr lang="ar-EG" sz="2000" dirty="0"/>
              <a:t>Opening a file that doesn't exist </a:t>
            </a:r>
          </a:p>
          <a:p>
            <a:pPr lvl="1"/>
            <a:r>
              <a:rPr lang="ar-EG" sz="2000" dirty="0"/>
              <a:t>Using a null object reference </a:t>
            </a:r>
          </a:p>
          <a:p>
            <a:pPr lvl="1"/>
            <a:r>
              <a:rPr lang="ar-EG" sz="2000" dirty="0"/>
              <a:t>Invalid user input</a:t>
            </a:r>
          </a:p>
          <a:p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28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F1E818-48B3-650D-72AF-7C6BF5391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b="1"/>
              <a:t>✍Benefits of Exception Handling</a:t>
            </a:r>
            <a:endParaRPr lang="ar-EG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165DA-D6D3-BDD5-2334-55926A868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ar-EG" sz="2400" dirty="0"/>
              <a:t>Prevents program crashes. </a:t>
            </a:r>
          </a:p>
          <a:p>
            <a:pPr lvl="0"/>
            <a:r>
              <a:rPr lang="ar-EG" sz="2400" dirty="0"/>
              <a:t>Makes programs more reliable. </a:t>
            </a:r>
          </a:p>
          <a:p>
            <a:pPr lvl="0"/>
            <a:r>
              <a:rPr lang="ar-EG" sz="2400" dirty="0"/>
              <a:t>Separates error-handling code from normal code. </a:t>
            </a:r>
          </a:p>
          <a:p>
            <a:pPr lvl="0"/>
            <a:r>
              <a:rPr lang="ar-EG" sz="2400" dirty="0"/>
              <a:t>Helps identify the exact problem. </a:t>
            </a:r>
          </a:p>
          <a:p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210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837B0A-4D1A-04AE-68F1-DEAD25557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✍Common Exceptions in Java :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F97813E8-2870-DC24-33B0-316BC3D86F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5097987"/>
              </p:ext>
            </p:extLst>
          </p:nvPr>
        </p:nvGraphicFramePr>
        <p:xfrm>
          <a:off x="1579897" y="3017519"/>
          <a:ext cx="8793095" cy="3209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28001">
                  <a:extLst>
                    <a:ext uri="{9D8B030D-6E8A-4147-A177-3AD203B41FA5}">
                      <a16:colId xmlns:a16="http://schemas.microsoft.com/office/drawing/2014/main" val="3892572171"/>
                    </a:ext>
                  </a:extLst>
                </a:gridCol>
                <a:gridCol w="3965094">
                  <a:extLst>
                    <a:ext uri="{9D8B030D-6E8A-4147-A177-3AD203B41FA5}">
                      <a16:colId xmlns:a16="http://schemas.microsoft.com/office/drawing/2014/main" val="2014395613"/>
                    </a:ext>
                  </a:extLst>
                </a:gridCol>
              </a:tblGrid>
              <a:tr h="534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E</a:t>
                      </a:r>
                      <a:r>
                        <a:rPr lang="ar-EG" sz="2400" b="1" dirty="0">
                          <a:solidFill>
                            <a:srgbClr val="FF0000"/>
                          </a:solidFill>
                        </a:rPr>
                        <a:t>xception</a:t>
                      </a:r>
                    </a:p>
                  </a:txBody>
                  <a:tcPr marL="121587" marR="121587" marT="60794" marB="607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Cause</a:t>
                      </a:r>
                    </a:p>
                  </a:txBody>
                  <a:tcPr marL="121587" marR="121587" marT="60794" marB="60794" anchor="ctr"/>
                </a:tc>
                <a:extLst>
                  <a:ext uri="{0D108BD9-81ED-4DB2-BD59-A6C34878D82A}">
                    <a16:rowId xmlns:a16="http://schemas.microsoft.com/office/drawing/2014/main" val="3696354360"/>
                  </a:ext>
                </a:extLst>
              </a:tr>
              <a:tr h="534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/>
                        <a:t>ArithmeticException</a:t>
                      </a:r>
                    </a:p>
                  </a:txBody>
                  <a:tcPr marL="121587" marR="121587" marT="60794" marB="607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/>
                        <a:t>Division by zero</a:t>
                      </a:r>
                    </a:p>
                  </a:txBody>
                  <a:tcPr marL="121587" marR="121587" marT="60794" marB="60794" anchor="ctr"/>
                </a:tc>
                <a:extLst>
                  <a:ext uri="{0D108BD9-81ED-4DB2-BD59-A6C34878D82A}">
                    <a16:rowId xmlns:a16="http://schemas.microsoft.com/office/drawing/2014/main" val="1780040704"/>
                  </a:ext>
                </a:extLst>
              </a:tr>
              <a:tr h="534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/>
                        <a:t>NullPointerException</a:t>
                      </a:r>
                    </a:p>
                  </a:txBody>
                  <a:tcPr marL="121587" marR="121587" marT="60794" marB="607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/>
                        <a:t>Using a null object</a:t>
                      </a:r>
                    </a:p>
                  </a:txBody>
                  <a:tcPr marL="121587" marR="121587" marT="60794" marB="60794" anchor="ctr"/>
                </a:tc>
                <a:extLst>
                  <a:ext uri="{0D108BD9-81ED-4DB2-BD59-A6C34878D82A}">
                    <a16:rowId xmlns:a16="http://schemas.microsoft.com/office/drawing/2014/main" val="74774270"/>
                  </a:ext>
                </a:extLst>
              </a:tr>
              <a:tr h="534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/>
                        <a:t>ArrayIndexOutOfBoundsException</a:t>
                      </a:r>
                    </a:p>
                  </a:txBody>
                  <a:tcPr marL="121587" marR="121587" marT="60794" marB="607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/>
                        <a:t>Invalid array index</a:t>
                      </a:r>
                    </a:p>
                  </a:txBody>
                  <a:tcPr marL="121587" marR="121587" marT="60794" marB="60794" anchor="ctr"/>
                </a:tc>
                <a:extLst>
                  <a:ext uri="{0D108BD9-81ED-4DB2-BD59-A6C34878D82A}">
                    <a16:rowId xmlns:a16="http://schemas.microsoft.com/office/drawing/2014/main" val="195545286"/>
                  </a:ext>
                </a:extLst>
              </a:tr>
              <a:tr h="534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/>
                        <a:t>NumberFormatException</a:t>
                      </a:r>
                    </a:p>
                  </a:txBody>
                  <a:tcPr marL="121587" marR="121587" marT="60794" marB="607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/>
                        <a:t>Invalid number conversion</a:t>
                      </a:r>
                    </a:p>
                  </a:txBody>
                  <a:tcPr marL="121587" marR="121587" marT="60794" marB="60794" anchor="ctr"/>
                </a:tc>
                <a:extLst>
                  <a:ext uri="{0D108BD9-81ED-4DB2-BD59-A6C34878D82A}">
                    <a16:rowId xmlns:a16="http://schemas.microsoft.com/office/drawing/2014/main" val="2395889360"/>
                  </a:ext>
                </a:extLst>
              </a:tr>
              <a:tr h="534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/>
                        <a:t>IOException</a:t>
                      </a:r>
                    </a:p>
                  </a:txBody>
                  <a:tcPr marL="121587" marR="121587" marT="60794" marB="607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 dirty="0"/>
                        <a:t>File input/output problems</a:t>
                      </a:r>
                    </a:p>
                  </a:txBody>
                  <a:tcPr marL="121587" marR="121587" marT="60794" marB="60794" anchor="ctr"/>
                </a:tc>
                <a:extLst>
                  <a:ext uri="{0D108BD9-81ED-4DB2-BD59-A6C34878D82A}">
                    <a16:rowId xmlns:a16="http://schemas.microsoft.com/office/drawing/2014/main" val="2194874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9042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F741C4-5E7D-1BF0-2A4D-F90B29C7B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/>
              <a:t>✍Exception Hierarchy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CF5AE7-F2C8-BFA0-4B8C-47F563ED4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081" y="2780068"/>
            <a:ext cx="7061200" cy="290953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2DD4BD3-C33E-9C88-EAB2-9A5A3D3CA8F0}"/>
                  </a:ext>
                </a:extLst>
              </p14:cNvPr>
              <p14:cNvContentPartPr/>
              <p14:nvPr/>
            </p14:nvContentPartPr>
            <p14:xfrm>
              <a:off x="5087321" y="4270205"/>
              <a:ext cx="360" cy="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2DD4BD3-C33E-9C88-EAB2-9A5A3D3CA8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69321" y="4252205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6296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C2C38B-9D6F-C4C4-76E3-6D8308DBB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✍What is 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F59A8-AE79-0FB7-D03C-A542DE06C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000" dirty="0"/>
              <a:t>Exception Handling is a mechanism that allows a program to continue running even after an error occurs.</a:t>
            </a:r>
            <a:endParaRPr lang="en-US" sz="2000" dirty="0"/>
          </a:p>
          <a:p>
            <a:pPr algn="l"/>
            <a:r>
              <a:rPr lang="ar-EG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Java provides</a:t>
            </a:r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</a:t>
            </a:r>
          </a:p>
          <a:p>
            <a:pPr lvl="2" algn="l"/>
            <a:r>
              <a:rPr lang="ar-EG" dirty="0"/>
              <a:t>try</a:t>
            </a:r>
            <a:r>
              <a:rPr lang="ar-EG" sz="1600" dirty="0"/>
              <a:t> </a:t>
            </a:r>
          </a:p>
          <a:p>
            <a:pPr lvl="2" algn="l"/>
            <a:r>
              <a:rPr lang="ar-EG" dirty="0"/>
              <a:t>catch</a:t>
            </a:r>
            <a:r>
              <a:rPr lang="ar-EG" sz="1600" dirty="0"/>
              <a:t> </a:t>
            </a:r>
          </a:p>
          <a:p>
            <a:pPr lvl="2" algn="l"/>
            <a:r>
              <a:rPr lang="ar-EG" dirty="0"/>
              <a:t>finally</a:t>
            </a:r>
            <a:r>
              <a:rPr lang="ar-EG" sz="1600" dirty="0"/>
              <a:t> </a:t>
            </a:r>
          </a:p>
          <a:p>
            <a:pPr lvl="2" algn="l"/>
            <a:r>
              <a:rPr lang="ar-EG" dirty="0"/>
              <a:t>throw</a:t>
            </a:r>
            <a:r>
              <a:rPr lang="ar-EG" sz="1600" dirty="0"/>
              <a:t> </a:t>
            </a:r>
          </a:p>
          <a:p>
            <a:pPr lvl="2" algn="l"/>
            <a:r>
              <a:rPr lang="ar-EG" dirty="0"/>
              <a:t>throws</a:t>
            </a:r>
            <a:endParaRPr lang="ar-EG" sz="1600" dirty="0"/>
          </a:p>
          <a:p>
            <a:endParaRPr lang="ar-EG" sz="24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3496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421B48-1809-AAE5-65DE-DD8972D3F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/>
              <a:t>✍try Block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B610C5-8EBD-8204-03C3-33001D033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161" y="2640354"/>
            <a:ext cx="8829040" cy="339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409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4D55D0-1615-8B37-DE16-F4AF74878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✍Two Types of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4EAEA-E716-0EF2-B6A5-2BCF53560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589505"/>
            <a:ext cx="9941319" cy="2976664"/>
          </a:xfrm>
        </p:spPr>
        <p:txBody>
          <a:bodyPr anchor="ctr"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ar-EG" sz="2400" b="1" dirty="0"/>
              <a:t>Checked Exceptions</a:t>
            </a:r>
            <a:endParaRPr lang="en-US" sz="2400" b="1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 dirty="0"/>
              <a:t>The compiler forces you to deal with it.</a:t>
            </a:r>
          </a:p>
          <a:p>
            <a:pPr lvl="2"/>
            <a:r>
              <a:rPr lang="ar-EG" sz="1600" dirty="0"/>
              <a:t>IOException </a:t>
            </a:r>
          </a:p>
          <a:p>
            <a:pPr lvl="2"/>
            <a:r>
              <a:rPr lang="ar-EG" sz="1600" dirty="0"/>
              <a:t>SQLException</a:t>
            </a:r>
            <a:endParaRPr lang="en-US" sz="16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ar-EG" sz="2400" b="1" dirty="0"/>
              <a:t>Unchecked Exceptions</a:t>
            </a:r>
            <a:endParaRPr lang="en-US" sz="2400" b="1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 dirty="0"/>
              <a:t>It appears during operation.</a:t>
            </a:r>
          </a:p>
          <a:p>
            <a:pPr lvl="2"/>
            <a:r>
              <a:rPr lang="ar-EG" sz="1600" dirty="0"/>
              <a:t>ArithmeticException </a:t>
            </a:r>
          </a:p>
          <a:p>
            <a:pPr lvl="2"/>
            <a:r>
              <a:rPr lang="ar-EG" sz="1600" dirty="0"/>
              <a:t>NullPointerException </a:t>
            </a:r>
          </a:p>
          <a:p>
            <a:pPr lvl="2"/>
            <a:r>
              <a:rPr lang="ar-EG" sz="1600" dirty="0"/>
              <a:t>ArrayIndexOutOfBoundsException</a:t>
            </a:r>
            <a:endParaRPr lang="en-US" sz="1600" dirty="0"/>
          </a:p>
          <a:p>
            <a:pPr marL="457200" lvl="1" indent="0">
              <a:lnSpc>
                <a:spcPct val="150000"/>
              </a:lnSpc>
              <a:buNone/>
            </a:pPr>
            <a:endParaRPr lang="ar-EG" sz="2000" dirty="0"/>
          </a:p>
          <a:p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1376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E1FC5-89E6-9F1E-9BDD-1E80EBFB9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✍Types of Exceptions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212982-CD98-40A3-A07E-7DC19492A8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4696146"/>
              </p:ext>
            </p:extLst>
          </p:nvPr>
        </p:nvGraphicFramePr>
        <p:xfrm>
          <a:off x="904602" y="3164038"/>
          <a:ext cx="10378441" cy="29168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73366">
                  <a:extLst>
                    <a:ext uri="{9D8B030D-6E8A-4147-A177-3AD203B41FA5}">
                      <a16:colId xmlns:a16="http://schemas.microsoft.com/office/drawing/2014/main" val="2444875132"/>
                    </a:ext>
                  </a:extLst>
                </a:gridCol>
                <a:gridCol w="5005075">
                  <a:extLst>
                    <a:ext uri="{9D8B030D-6E8A-4147-A177-3AD203B41FA5}">
                      <a16:colId xmlns:a16="http://schemas.microsoft.com/office/drawing/2014/main" val="407380107"/>
                    </a:ext>
                  </a:extLst>
                </a:gridCol>
              </a:tblGrid>
              <a:tr h="583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6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highlight>
                            <a:srgbClr val="FFFF00"/>
                          </a:highlight>
                        </a:rPr>
                        <a:t>Checked Exception</a:t>
                      </a:r>
                    </a:p>
                  </a:txBody>
                  <a:tcPr marL="132585" marR="132585" marT="66292" marB="66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6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highlight>
                            <a:srgbClr val="FFFF00"/>
                          </a:highlight>
                        </a:rPr>
                        <a:t>Unchecked</a:t>
                      </a:r>
                      <a:r>
                        <a:rPr lang="ar-EG" sz="26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ar-EG" sz="2600" b="1" dirty="0">
                          <a:highlight>
                            <a:srgbClr val="FFFF00"/>
                          </a:highlight>
                        </a:rPr>
                        <a:t>Exception</a:t>
                      </a:r>
                    </a:p>
                  </a:txBody>
                  <a:tcPr marL="132585" marR="132585" marT="66292" marB="66292" anchor="ctr"/>
                </a:tc>
                <a:extLst>
                  <a:ext uri="{0D108BD9-81ED-4DB2-BD59-A6C34878D82A}">
                    <a16:rowId xmlns:a16="http://schemas.microsoft.com/office/drawing/2014/main" val="962570826"/>
                  </a:ext>
                </a:extLst>
              </a:tr>
              <a:tr h="583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600" dirty="0"/>
                        <a:t>Compile Time</a:t>
                      </a:r>
                    </a:p>
                  </a:txBody>
                  <a:tcPr marL="132585" marR="132585" marT="66292" marB="66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600"/>
                        <a:t>Runtime</a:t>
                      </a:r>
                    </a:p>
                  </a:txBody>
                  <a:tcPr marL="132585" marR="132585" marT="66292" marB="66292" anchor="ctr"/>
                </a:tc>
                <a:extLst>
                  <a:ext uri="{0D108BD9-81ED-4DB2-BD59-A6C34878D82A}">
                    <a16:rowId xmlns:a16="http://schemas.microsoft.com/office/drawing/2014/main" val="26162327"/>
                  </a:ext>
                </a:extLst>
              </a:tr>
              <a:tr h="583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600"/>
                        <a:t>Must be handled</a:t>
                      </a:r>
                    </a:p>
                  </a:txBody>
                  <a:tcPr marL="132585" marR="132585" marT="66292" marB="66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600"/>
                        <a:t>Optional to handle</a:t>
                      </a:r>
                    </a:p>
                  </a:txBody>
                  <a:tcPr marL="132585" marR="132585" marT="66292" marB="66292" anchor="ctr"/>
                </a:tc>
                <a:extLst>
                  <a:ext uri="{0D108BD9-81ED-4DB2-BD59-A6C34878D82A}">
                    <a16:rowId xmlns:a16="http://schemas.microsoft.com/office/drawing/2014/main" val="2679403751"/>
                  </a:ext>
                </a:extLst>
              </a:tr>
              <a:tr h="583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600"/>
                        <a:t>Example: IOException</a:t>
                      </a:r>
                    </a:p>
                  </a:txBody>
                  <a:tcPr marL="132585" marR="132585" marT="66292" marB="66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600"/>
                        <a:t>Example: ArithmeticException</a:t>
                      </a:r>
                    </a:p>
                  </a:txBody>
                  <a:tcPr marL="132585" marR="132585" marT="66292" marB="66292" anchor="ctr"/>
                </a:tc>
                <a:extLst>
                  <a:ext uri="{0D108BD9-81ED-4DB2-BD59-A6C34878D82A}">
                    <a16:rowId xmlns:a16="http://schemas.microsoft.com/office/drawing/2014/main" val="3038277357"/>
                  </a:ext>
                </a:extLst>
              </a:tr>
              <a:tr h="583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600"/>
                        <a:t>Example: FileNotFoundException</a:t>
                      </a:r>
                    </a:p>
                  </a:txBody>
                  <a:tcPr marL="132585" marR="132585" marT="66292" marB="66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600" dirty="0"/>
                        <a:t>Example: NullPointerException</a:t>
                      </a:r>
                    </a:p>
                  </a:txBody>
                  <a:tcPr marL="132585" marR="132585" marT="66292" marB="66292" anchor="ctr"/>
                </a:tc>
                <a:extLst>
                  <a:ext uri="{0D108BD9-81ED-4DB2-BD59-A6C34878D82A}">
                    <a16:rowId xmlns:a16="http://schemas.microsoft.com/office/drawing/2014/main" val="2066646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3431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E2C96C-514E-0B77-5B63-CDC525E89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✍What is a Custom Exception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171E29E7-7791-3D6B-47A1-15443105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1900" dirty="0"/>
              <a:t>Sometimes Java's built-in exceptions are not enough, so we create our own exception class to represent a specific business rule.</a:t>
            </a:r>
            <a:endParaRPr lang="en-US" sz="1900" dirty="0"/>
          </a:p>
          <a:p>
            <a:r>
              <a:rPr lang="ar-EG" sz="1900" b="1" dirty="0"/>
              <a:t>Why create a custom exception</a:t>
            </a:r>
            <a:r>
              <a:rPr lang="ar-EG" sz="1900" dirty="0"/>
              <a:t>?</a:t>
            </a:r>
            <a:endParaRPr lang="en-US" sz="1900" dirty="0"/>
          </a:p>
          <a:p>
            <a:pPr lvl="1"/>
            <a:r>
              <a:rPr lang="ar-EG" sz="1900" dirty="0"/>
              <a:t>Improve code readability. </a:t>
            </a:r>
          </a:p>
          <a:p>
            <a:pPr lvl="1"/>
            <a:r>
              <a:rPr lang="ar-EG" sz="1900" dirty="0"/>
              <a:t>Provide meaningful error messages. </a:t>
            </a:r>
          </a:p>
          <a:p>
            <a:pPr lvl="1"/>
            <a:r>
              <a:rPr lang="ar-EG" sz="1900" dirty="0"/>
              <a:t>Handle application-specific errors.</a:t>
            </a:r>
            <a:endParaRPr lang="en-US" sz="1900" dirty="0"/>
          </a:p>
          <a:p>
            <a:pPr marL="457200" lvl="1" indent="0">
              <a:buNone/>
            </a:pPr>
            <a:endParaRPr lang="ar-EG" sz="1900" dirty="0"/>
          </a:p>
          <a:p>
            <a:r>
              <a:rPr lang="ar-EG" sz="1900" dirty="0"/>
              <a:t>Student age cannot be negative.</a:t>
            </a:r>
          </a:p>
          <a:p>
            <a:r>
              <a:rPr lang="ar-EG" sz="1900" dirty="0"/>
              <a:t>Product quantity cannot be less than zero.</a:t>
            </a:r>
          </a:p>
          <a:p>
            <a:endParaRPr lang="ar-EG" sz="19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97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996468-F90D-C380-DCF2-792C66E9D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/>
              <a:t>✍Creating a Custom Exception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2DF33C-0C91-14F0-C887-1B7C68428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2599509"/>
            <a:ext cx="5515291" cy="3639450"/>
          </a:xfrm>
        </p:spPr>
        <p:txBody>
          <a:bodyPr anchor="ctr">
            <a:normAutofit/>
          </a:bodyPr>
          <a:lstStyle/>
          <a:p>
            <a:pPr lvl="0"/>
            <a:r>
              <a:rPr lang="ar-EG" sz="2000" dirty="0"/>
              <a:t>extends Exception</a:t>
            </a:r>
            <a:br>
              <a:rPr lang="ar-EG" sz="2000" dirty="0"/>
            </a:br>
            <a:r>
              <a:rPr lang="ar-EG" sz="2000" dirty="0"/>
              <a:t>→ Makes it a Checked Exception. </a:t>
            </a:r>
          </a:p>
          <a:p>
            <a:pPr lvl="0"/>
            <a:r>
              <a:rPr lang="ar-EG" sz="2000" dirty="0"/>
              <a:t>super(message)</a:t>
            </a:r>
            <a:br>
              <a:rPr lang="ar-EG" sz="2000" dirty="0"/>
            </a:br>
            <a:r>
              <a:rPr lang="ar-EG" sz="2000" dirty="0"/>
              <a:t>→ Sends the message to the parent Exception class. </a:t>
            </a:r>
          </a:p>
          <a:p>
            <a:endParaRPr lang="ar-EG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878C5F-6FB7-F71C-8DA9-4A8D4E68A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429001"/>
            <a:ext cx="5150277" cy="237236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17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97B81-959B-CA11-BA58-2D85D4AFD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✍Throwing Custom Exception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D341-B782-B8BF-73D3-46285BF07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EG" dirty="0"/>
              <a:t>Check the condition. </a:t>
            </a:r>
          </a:p>
          <a:p>
            <a:pPr lvl="0"/>
            <a:r>
              <a:rPr lang="ar-EG" dirty="0"/>
              <a:t>If invalid → throw the exception. </a:t>
            </a:r>
          </a:p>
          <a:p>
            <a:pPr lvl="0"/>
            <a:r>
              <a:rPr lang="ar-EG" dirty="0"/>
              <a:t>Otherwise continue normally. </a:t>
            </a:r>
          </a:p>
          <a:p>
            <a:endParaRPr lang="ar-EG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2ED740D-A06F-27AD-1799-5C76C63B3EDE}"/>
                  </a:ext>
                </a:extLst>
              </p14:cNvPr>
              <p14:cNvContentPartPr/>
              <p14:nvPr/>
            </p14:nvContentPartPr>
            <p14:xfrm>
              <a:off x="-48799" y="4921805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2ED740D-A06F-27AD-1799-5C76C63B3E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66799" y="4903805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7912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DBB741-1D42-B2A2-B5F2-D7DA353E4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/>
              <a:t>✍Exception Methods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1B4CF799-ABB7-723E-2BB0-F8627D2527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4538522"/>
              </p:ext>
            </p:extLst>
          </p:nvPr>
        </p:nvGraphicFramePr>
        <p:xfrm>
          <a:off x="1859243" y="2780068"/>
          <a:ext cx="7934960" cy="31330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44942">
                  <a:extLst>
                    <a:ext uri="{9D8B030D-6E8A-4147-A177-3AD203B41FA5}">
                      <a16:colId xmlns:a16="http://schemas.microsoft.com/office/drawing/2014/main" val="984619722"/>
                    </a:ext>
                  </a:extLst>
                </a:gridCol>
                <a:gridCol w="4690018">
                  <a:extLst>
                    <a:ext uri="{9D8B030D-6E8A-4147-A177-3AD203B41FA5}">
                      <a16:colId xmlns:a16="http://schemas.microsoft.com/office/drawing/2014/main" val="165518912"/>
                    </a:ext>
                  </a:extLst>
                </a:gridCol>
              </a:tblGrid>
              <a:tr h="584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1800" b="1" dirty="0"/>
                        <a:t>Method</a:t>
                      </a:r>
                    </a:p>
                  </a:txBody>
                  <a:tcPr marL="93147" marR="93147" marT="46574" marB="465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1800" b="1" dirty="0"/>
                        <a:t>Description</a:t>
                      </a:r>
                    </a:p>
                  </a:txBody>
                  <a:tcPr marL="93147" marR="93147" marT="46574" marB="46574" anchor="ctr"/>
                </a:tc>
                <a:extLst>
                  <a:ext uri="{0D108BD9-81ED-4DB2-BD59-A6C34878D82A}">
                    <a16:rowId xmlns:a16="http://schemas.microsoft.com/office/drawing/2014/main" val="2646671936"/>
                  </a:ext>
                </a:extLst>
              </a:tr>
              <a:tr h="584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1800" dirty="0"/>
                        <a:t>getMessage()</a:t>
                      </a:r>
                    </a:p>
                  </a:txBody>
                  <a:tcPr marL="93147" marR="93147" marT="46574" marB="465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1800"/>
                        <a:t>Returns error message</a:t>
                      </a:r>
                    </a:p>
                  </a:txBody>
                  <a:tcPr marL="93147" marR="93147" marT="46574" marB="46574" anchor="ctr"/>
                </a:tc>
                <a:extLst>
                  <a:ext uri="{0D108BD9-81ED-4DB2-BD59-A6C34878D82A}">
                    <a16:rowId xmlns:a16="http://schemas.microsoft.com/office/drawing/2014/main" val="2817325309"/>
                  </a:ext>
                </a:extLst>
              </a:tr>
              <a:tr h="982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1800"/>
                        <a:t>toString()</a:t>
                      </a:r>
                    </a:p>
                  </a:txBody>
                  <a:tcPr marL="93147" marR="93147" marT="46574" marB="465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1800" dirty="0"/>
                        <a:t>Returns exception name + message</a:t>
                      </a:r>
                    </a:p>
                  </a:txBody>
                  <a:tcPr marL="93147" marR="93147" marT="46574" marB="46574" anchor="ctr"/>
                </a:tc>
                <a:extLst>
                  <a:ext uri="{0D108BD9-81ED-4DB2-BD59-A6C34878D82A}">
                    <a16:rowId xmlns:a16="http://schemas.microsoft.com/office/drawing/2014/main" val="1988003664"/>
                  </a:ext>
                </a:extLst>
              </a:tr>
              <a:tr h="982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1800"/>
                        <a:t>printStackTrace()</a:t>
                      </a:r>
                    </a:p>
                  </a:txBody>
                  <a:tcPr marL="93147" marR="93147" marT="46574" marB="465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1800" dirty="0"/>
                        <a:t>Prints detailed error information</a:t>
                      </a:r>
                    </a:p>
                  </a:txBody>
                  <a:tcPr marL="93147" marR="93147" marT="46574" marB="46574" anchor="ctr"/>
                </a:tc>
                <a:extLst>
                  <a:ext uri="{0D108BD9-81ED-4DB2-BD59-A6C34878D82A}">
                    <a16:rowId xmlns:a16="http://schemas.microsoft.com/office/drawing/2014/main" val="848363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67330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B1684F-9D3C-1ECB-B083-3EC4D5EA9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 dirty="0"/>
              <a:t>✍Exception Methods</a:t>
            </a:r>
            <a:r>
              <a:rPr lang="en-US" sz="4800" dirty="0"/>
              <a:t> </a:t>
            </a:r>
            <a:endParaRPr lang="ar-EG" sz="4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54EBD34-EB6B-24D7-C8C1-ADC2EBA0F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658" y="2747338"/>
            <a:ext cx="7976681" cy="317947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242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49FE63-4CF2-88A5-1714-A5A669DE2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✍finally 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9F699-586F-A65F-C4DC-90748E119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/>
              <a:t>The finally block always executes whether an exception occurs or not.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ar-EG" sz="2400" b="1" dirty="0"/>
              <a:t>Used for</a:t>
            </a:r>
          </a:p>
          <a:p>
            <a:pPr lvl="0"/>
            <a:r>
              <a:rPr lang="ar-EG" sz="2400" dirty="0"/>
              <a:t>Closing files </a:t>
            </a:r>
          </a:p>
          <a:p>
            <a:pPr lvl="0"/>
            <a:r>
              <a:rPr lang="ar-EG" sz="2400" dirty="0"/>
              <a:t>Closing database connections </a:t>
            </a:r>
          </a:p>
          <a:p>
            <a:pPr lvl="0"/>
            <a:r>
              <a:rPr lang="ar-EG" sz="2400" dirty="0"/>
              <a:t>Releasing resources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3059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0E7536-3946-25CB-320E-231A120A7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 dirty="0"/>
              <a:t>✍finally Block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CEA1B-6276-BDB1-5AB2-254BD2387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Example : </a:t>
            </a:r>
            <a:endParaRPr lang="ar-EG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242056-56EF-8523-3253-DB64AE11BE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12" r="2" b="2"/>
          <a:stretch>
            <a:fillRect/>
          </a:stretch>
        </p:blipFill>
        <p:spPr>
          <a:xfrm>
            <a:off x="5412666" y="2484255"/>
            <a:ext cx="5649144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7952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BF69ED-46E2-AC33-39F5-7745F7A97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 dirty="0"/>
              <a:t>✍Nested try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F9912-05A9-5B45-8E35-B2BD9294D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2599509"/>
            <a:ext cx="4837112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 try-catch block can be placed inside another try-catch block to handle errors at different levels.</a:t>
            </a:r>
            <a:endParaRPr lang="ar-EG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FBD869-FEC8-A363-CE94-60FF9B155E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541" r="2" b="7329"/>
          <a:stretch>
            <a:fillRect/>
          </a:stretch>
        </p:blipFill>
        <p:spPr>
          <a:xfrm>
            <a:off x="5412665" y="2484272"/>
            <a:ext cx="5649144" cy="371421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9C563CB-A53C-749C-0D41-E5044851CA2B}"/>
                  </a:ext>
                </a:extLst>
              </p14:cNvPr>
              <p14:cNvContentPartPr/>
              <p14:nvPr/>
            </p14:nvContentPartPr>
            <p14:xfrm>
              <a:off x="6672761" y="2499005"/>
              <a:ext cx="770760" cy="498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9C563CB-A53C-749C-0D41-E5044851CA2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55121" y="2481365"/>
                <a:ext cx="806400" cy="53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D8432BD-70D4-F4C6-1694-04FD8EFB5017}"/>
                  </a:ext>
                </a:extLst>
              </p14:cNvPr>
              <p14:cNvContentPartPr/>
              <p14:nvPr/>
            </p14:nvContentPartPr>
            <p14:xfrm>
              <a:off x="7061561" y="3365525"/>
              <a:ext cx="593640" cy="198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D8432BD-70D4-F4C6-1694-04FD8EFB501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43921" y="3347885"/>
                <a:ext cx="6292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4D0124F-BD84-73D6-EE7F-1503921EAD68}"/>
                  </a:ext>
                </a:extLst>
              </p14:cNvPr>
              <p14:cNvContentPartPr/>
              <p14:nvPr/>
            </p14:nvContentPartPr>
            <p14:xfrm>
              <a:off x="7664921" y="3365525"/>
              <a:ext cx="389160" cy="198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4D0124F-BD84-73D6-EE7F-1503921EAD6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647281" y="3347525"/>
                <a:ext cx="4248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89A6CE3-7C1F-DEFA-D8D4-DDC8B5C06686}"/>
                  </a:ext>
                </a:extLst>
              </p14:cNvPr>
              <p14:cNvContentPartPr/>
              <p14:nvPr/>
            </p14:nvContentPartPr>
            <p14:xfrm>
              <a:off x="8695961" y="4045925"/>
              <a:ext cx="642600" cy="7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89A6CE3-7C1F-DEFA-D8D4-DDC8B5C0668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677961" y="4010645"/>
                <a:ext cx="67824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E816DCD8-5771-E464-2256-DD079653B90B}"/>
              </a:ext>
            </a:extLst>
          </p:cNvPr>
          <p:cNvGrpSpPr/>
          <p:nvPr/>
        </p:nvGrpSpPr>
        <p:grpSpPr>
          <a:xfrm>
            <a:off x="7061561" y="4542005"/>
            <a:ext cx="2966400" cy="137880"/>
            <a:chOff x="7061561" y="4542005"/>
            <a:chExt cx="2966400" cy="13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2B259FB-59F3-D7B9-2828-811041B29C91}"/>
                    </a:ext>
                  </a:extLst>
                </p14:cNvPr>
                <p14:cNvContentPartPr/>
                <p14:nvPr/>
              </p14:nvContentPartPr>
              <p14:xfrm>
                <a:off x="7061561" y="4571165"/>
                <a:ext cx="1643760" cy="108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2B259FB-59F3-D7B9-2828-811041B29C9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043921" y="4553165"/>
                  <a:ext cx="16794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CCDACC1-11F2-7032-DF4C-A9BDE35AE340}"/>
                    </a:ext>
                  </a:extLst>
                </p14:cNvPr>
                <p14:cNvContentPartPr/>
                <p14:nvPr/>
              </p14:nvContentPartPr>
              <p14:xfrm>
                <a:off x="9221201" y="4542005"/>
                <a:ext cx="806760" cy="20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CCDACC1-11F2-7032-DF4C-A9BDE35AE34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203561" y="4524005"/>
                  <a:ext cx="842400" cy="5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E0C33E0-C7C3-5225-F7E0-57D8C3C1BEEB}"/>
                  </a:ext>
                </a:extLst>
              </p14:cNvPr>
              <p14:cNvContentPartPr/>
              <p14:nvPr/>
            </p14:nvContentPartPr>
            <p14:xfrm>
              <a:off x="9950921" y="4532285"/>
              <a:ext cx="477720" cy="201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E0C33E0-C7C3-5225-F7E0-57D8C3C1BEE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933281" y="4514645"/>
                <a:ext cx="5133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206C02E-809D-65F6-4D19-B50BF16BAA96}"/>
                  </a:ext>
                </a:extLst>
              </p14:cNvPr>
              <p14:cNvContentPartPr/>
              <p14:nvPr/>
            </p14:nvContentPartPr>
            <p14:xfrm>
              <a:off x="6556121" y="4513205"/>
              <a:ext cx="360" cy="2055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8206C02E-809D-65F6-4D19-B50BF16BAA9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38121" y="4495205"/>
                <a:ext cx="3600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BF3CD39-D64A-7C0B-335D-E540A51B0A43}"/>
                  </a:ext>
                </a:extLst>
              </p14:cNvPr>
              <p14:cNvContentPartPr/>
              <p14:nvPr/>
            </p14:nvContentPartPr>
            <p14:xfrm>
              <a:off x="6293321" y="5536325"/>
              <a:ext cx="273960" cy="572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BF3CD39-D64A-7C0B-335D-E540A51B0A4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275321" y="5518685"/>
                <a:ext cx="309600" cy="9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6CDE6501-ECB9-4BF7-78C5-5FDCE895B251}"/>
              </a:ext>
            </a:extLst>
          </p:cNvPr>
          <p:cNvGrpSpPr/>
          <p:nvPr/>
        </p:nvGrpSpPr>
        <p:grpSpPr>
          <a:xfrm>
            <a:off x="5320961" y="1410725"/>
            <a:ext cx="2074680" cy="729720"/>
            <a:chOff x="5320961" y="1410725"/>
            <a:chExt cx="2074680" cy="72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4B222D9-E557-FD9C-A42D-6ECCE467AAAC}"/>
                    </a:ext>
                  </a:extLst>
                </p14:cNvPr>
                <p14:cNvContentPartPr/>
                <p14:nvPr/>
              </p14:nvContentPartPr>
              <p14:xfrm>
                <a:off x="6264521" y="1672805"/>
                <a:ext cx="10440" cy="231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4B222D9-E557-FD9C-A42D-6ECCE467AAA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246521" y="1655165"/>
                  <a:ext cx="460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435C0AC-32B3-6AE7-B358-FE954430434D}"/>
                    </a:ext>
                  </a:extLst>
                </p14:cNvPr>
                <p14:cNvContentPartPr/>
                <p14:nvPr/>
              </p14:nvContentPartPr>
              <p14:xfrm>
                <a:off x="6137801" y="1623485"/>
                <a:ext cx="334440" cy="30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435C0AC-32B3-6AE7-B358-FE954430434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120161" y="1605485"/>
                  <a:ext cx="3700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8C17EA1-B9D5-4104-841C-6685C5482F0F}"/>
                    </a:ext>
                  </a:extLst>
                </p14:cNvPr>
                <p14:cNvContentPartPr/>
                <p14:nvPr/>
              </p14:nvContentPartPr>
              <p14:xfrm>
                <a:off x="6476921" y="1462205"/>
                <a:ext cx="249480" cy="378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8C17EA1-B9D5-4104-841C-6685C5482F0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459281" y="1444205"/>
                  <a:ext cx="28512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ADC3937-3C10-4C5D-F3F0-AE0B7B910A4C}"/>
                    </a:ext>
                  </a:extLst>
                </p14:cNvPr>
                <p14:cNvContentPartPr/>
                <p14:nvPr/>
              </p14:nvContentPartPr>
              <p14:xfrm>
                <a:off x="6748361" y="1633925"/>
                <a:ext cx="151920" cy="129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ADC3937-3C10-4C5D-F3F0-AE0B7B910A4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730721" y="1615925"/>
                  <a:ext cx="1875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32DB9CF-BC07-948C-B9E7-C773CEAAF0E3}"/>
                    </a:ext>
                  </a:extLst>
                </p14:cNvPr>
                <p14:cNvContentPartPr/>
                <p14:nvPr/>
              </p14:nvContentPartPr>
              <p14:xfrm>
                <a:off x="6876881" y="1692245"/>
                <a:ext cx="62640" cy="33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32DB9CF-BC07-948C-B9E7-C773CEAAF0E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859241" y="1674605"/>
                  <a:ext cx="982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535A845-80DE-D397-AB2C-5C72B51AD350}"/>
                    </a:ext>
                  </a:extLst>
                </p14:cNvPr>
                <p14:cNvContentPartPr/>
                <p14:nvPr/>
              </p14:nvContentPartPr>
              <p14:xfrm>
                <a:off x="7042481" y="1410725"/>
                <a:ext cx="353160" cy="729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535A845-80DE-D397-AB2C-5C72B51AD35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024481" y="1392725"/>
                  <a:ext cx="388800" cy="76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17FB63A-9975-425B-C4A3-AAD250C51B99}"/>
                    </a:ext>
                  </a:extLst>
                </p14:cNvPr>
                <p14:cNvContentPartPr/>
                <p14:nvPr/>
              </p14:nvContentPartPr>
              <p14:xfrm>
                <a:off x="6458921" y="1750565"/>
                <a:ext cx="53280" cy="223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17FB63A-9975-425B-C4A3-AAD250C51B9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440921" y="1732925"/>
                  <a:ext cx="889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7CCDAB9-5E73-90EA-064D-097C19B83E5B}"/>
                    </a:ext>
                  </a:extLst>
                </p14:cNvPr>
                <p14:cNvContentPartPr/>
                <p14:nvPr/>
              </p14:nvContentPartPr>
              <p14:xfrm>
                <a:off x="5320961" y="1816445"/>
                <a:ext cx="516960" cy="275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7CCDAB9-5E73-90EA-064D-097C19B83E5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302961" y="1798805"/>
                  <a:ext cx="552600" cy="31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DFDC80C5-5FC5-C516-B6F7-E2ABE328B392}"/>
                  </a:ext>
                </a:extLst>
              </p14:cNvPr>
              <p14:cNvContentPartPr/>
              <p14:nvPr/>
            </p14:nvContentPartPr>
            <p14:xfrm>
              <a:off x="7343801" y="4036565"/>
              <a:ext cx="86760" cy="3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DFDC80C5-5FC5-C516-B6F7-E2ABE328B392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326161" y="4018925"/>
                <a:ext cx="122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D56DC012-1CBA-8DBD-D086-B14E3ED6439D}"/>
                  </a:ext>
                </a:extLst>
              </p14:cNvPr>
              <p14:cNvContentPartPr/>
              <p14:nvPr/>
            </p14:nvContentPartPr>
            <p14:xfrm>
              <a:off x="7013321" y="3997325"/>
              <a:ext cx="330840" cy="298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D56DC012-1CBA-8DBD-D086-B14E3ED6439D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995321" y="3979685"/>
                <a:ext cx="366480" cy="6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F59F9E8D-3471-3328-C0F5-6D2121CE512E}"/>
              </a:ext>
            </a:extLst>
          </p:cNvPr>
          <p:cNvGrpSpPr/>
          <p:nvPr/>
        </p:nvGrpSpPr>
        <p:grpSpPr>
          <a:xfrm>
            <a:off x="7343801" y="4007765"/>
            <a:ext cx="1341720" cy="49320"/>
            <a:chOff x="7343801" y="4007765"/>
            <a:chExt cx="1341720" cy="4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2366B57-204D-B388-46A6-2A72D774CA6D}"/>
                    </a:ext>
                  </a:extLst>
                </p14:cNvPr>
                <p14:cNvContentPartPr/>
                <p14:nvPr/>
              </p14:nvContentPartPr>
              <p14:xfrm>
                <a:off x="7392761" y="4007765"/>
                <a:ext cx="44712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2366B57-204D-B388-46A6-2A72D774CA6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374761" y="3989765"/>
                  <a:ext cx="482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AB95075-ADB1-4593-22D4-C4AFE3B2C759}"/>
                    </a:ext>
                  </a:extLst>
                </p14:cNvPr>
                <p14:cNvContentPartPr/>
                <p14:nvPr/>
              </p14:nvContentPartPr>
              <p14:xfrm>
                <a:off x="7849961" y="4007765"/>
                <a:ext cx="835560" cy="49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AB95075-ADB1-4593-22D4-C4AFE3B2C75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831961" y="3989765"/>
                  <a:ext cx="8712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D9FEAAE-F15C-9FF7-D985-BA194C539BDD}"/>
                    </a:ext>
                  </a:extLst>
                </p14:cNvPr>
                <p14:cNvContentPartPr/>
                <p14:nvPr/>
              </p14:nvContentPartPr>
              <p14:xfrm>
                <a:off x="7956881" y="4056005"/>
                <a:ext cx="621000" cy="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D9FEAAE-F15C-9FF7-D985-BA194C539BD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939241" y="4038005"/>
                  <a:ext cx="6566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B839098-CEC9-7BE6-E729-13AF23B1D862}"/>
                    </a:ext>
                  </a:extLst>
                </p14:cNvPr>
                <p14:cNvContentPartPr/>
                <p14:nvPr/>
              </p14:nvContentPartPr>
              <p14:xfrm>
                <a:off x="8589401" y="4056005"/>
                <a:ext cx="360" cy="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B839098-CEC9-7BE6-E729-13AF23B1D86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571401" y="40380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139FE3A-BCBB-A35E-6EE4-63F4B6898EC5}"/>
                    </a:ext>
                  </a:extLst>
                </p14:cNvPr>
                <p14:cNvContentPartPr/>
                <p14:nvPr/>
              </p14:nvContentPartPr>
              <p14:xfrm>
                <a:off x="7343801" y="4026845"/>
                <a:ext cx="155520" cy="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139FE3A-BCBB-A35E-6EE4-63F4B6898EC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326161" y="4009205"/>
                  <a:ext cx="191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936F647-F3AC-05FD-EC76-70B3FA8516E6}"/>
                    </a:ext>
                  </a:extLst>
                </p14:cNvPr>
                <p14:cNvContentPartPr/>
                <p14:nvPr/>
              </p14:nvContentPartPr>
              <p14:xfrm>
                <a:off x="7509401" y="4026845"/>
                <a:ext cx="362160" cy="20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936F647-F3AC-05FD-EC76-70B3FA8516E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491401" y="4009205"/>
                  <a:ext cx="397800" cy="5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5CEDAC2-D74C-34E5-B02F-83D8CB11B36F}"/>
                  </a:ext>
                </a:extLst>
              </p14:cNvPr>
              <p14:cNvContentPartPr/>
              <p14:nvPr/>
            </p14:nvContentPartPr>
            <p14:xfrm>
              <a:off x="7051841" y="6001445"/>
              <a:ext cx="915120" cy="1980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5CEDAC2-D74C-34E5-B02F-83D8CB11B36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034201" y="5983805"/>
                <a:ext cx="950760" cy="5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9660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959F89-704C-7B40-9C2F-3F9AC990E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/>
              <a:t>✍Multiple Exceptions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8D0E92-EB59-FE54-935C-86E8C26B6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06" y="2599509"/>
            <a:ext cx="550237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Always start with the most specific exception, followed by the more general ones.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723E81-E880-CBA4-17DE-D3C9C1856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121" y="2484255"/>
            <a:ext cx="5293360" cy="371424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0870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35AD5C-7FD1-3E57-2A9D-3636D7F8A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ar-EG" sz="5400" dirty="0"/>
              <a:t>✍Best Practices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67979-1C31-6449-61DC-2888D0396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ar-EG" sz="2400"/>
              <a:t>Catch specific exceptions.</a:t>
            </a:r>
          </a:p>
          <a:p>
            <a:r>
              <a:rPr lang="ar-EG" sz="2400"/>
              <a:t>Never leave catch empty.</a:t>
            </a:r>
          </a:p>
          <a:p>
            <a:r>
              <a:rPr lang="ar-EG" sz="2400"/>
              <a:t>Use meaningful messages.</a:t>
            </a:r>
          </a:p>
          <a:p>
            <a:r>
              <a:rPr lang="ar-EG" sz="2400"/>
              <a:t>Close resources.</a:t>
            </a:r>
          </a:p>
          <a:p>
            <a:r>
              <a:rPr lang="ar-EG" sz="2400"/>
              <a:t>Don't use Exception for every case.</a:t>
            </a:r>
          </a:p>
          <a:p>
            <a:endParaRPr lang="ar-EG" sz="2400"/>
          </a:p>
        </p:txBody>
      </p:sp>
    </p:spTree>
    <p:extLst>
      <p:ext uri="{BB962C8B-B14F-4D97-AF65-F5344CB8AC3E}">
        <p14:creationId xmlns:p14="http://schemas.microsoft.com/office/powerpoint/2010/main" val="588956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63BA78-D9D2-ADD5-F042-FDABC2FAD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✍Rethrowing and Chaining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BE088-1B4B-AC76-243B-A39814D36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b="1" dirty="0"/>
              <a:t>Rethrowing Exceptions</a:t>
            </a:r>
          </a:p>
          <a:p>
            <a:r>
              <a:rPr lang="ar-EG" sz="2400" dirty="0"/>
              <a:t>Sometimes we catch an exception but cannot fully handle it, so we throw another exception to the caller.</a:t>
            </a:r>
          </a:p>
          <a:p>
            <a:pPr>
              <a:lnSpc>
                <a:spcPct val="150000"/>
              </a:lnSpc>
            </a:pPr>
            <a:r>
              <a:rPr lang="ar-EG" sz="2400" b="1" dirty="0"/>
              <a:t>Chaining Exceptions</a:t>
            </a:r>
          </a:p>
          <a:p>
            <a:r>
              <a:rPr lang="ar-EG" sz="2400" dirty="0"/>
              <a:t>The original exception can be attached as the </a:t>
            </a:r>
            <a:r>
              <a:rPr lang="ar-EG" sz="2400" b="1" dirty="0"/>
              <a:t>cause</a:t>
            </a:r>
            <a:r>
              <a:rPr lang="ar-EG" sz="2400" dirty="0"/>
              <a:t> of the new exception.</a:t>
            </a:r>
          </a:p>
          <a:p>
            <a:endParaRPr lang="ar-EG" sz="24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0524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99E4A9-1FD3-4CCA-6B4F-63CF3B45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✍Why finally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AF1B8-F614-DC6A-9A5C-C4644B242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200" b="1" dirty="0"/>
              <a:t>When an exception occurs,</a:t>
            </a:r>
          </a:p>
          <a:p>
            <a:pPr lvl="1"/>
            <a:r>
              <a:rPr lang="ar-EG" sz="2200" dirty="0"/>
              <a:t>Program execution stops. </a:t>
            </a:r>
          </a:p>
          <a:p>
            <a:pPr lvl="1"/>
            <a:r>
              <a:rPr lang="ar-EG" sz="2200" dirty="0"/>
              <a:t>Remaining code inside the method is skipped. </a:t>
            </a:r>
          </a:p>
          <a:p>
            <a:pPr lvl="1"/>
            <a:r>
              <a:rPr lang="ar-EG" sz="2200" dirty="0"/>
              <a:t>Resources may remain open. </a:t>
            </a:r>
          </a:p>
          <a:p>
            <a:r>
              <a:rPr lang="ar-EG" sz="2200" b="1" dirty="0"/>
              <a:t>Examples of resources:</a:t>
            </a:r>
          </a:p>
          <a:p>
            <a:pPr lvl="1"/>
            <a:r>
              <a:rPr lang="ar-EG" sz="2200" dirty="0"/>
              <a:t>Files </a:t>
            </a:r>
          </a:p>
          <a:p>
            <a:pPr lvl="1"/>
            <a:r>
              <a:rPr lang="ar-EG" sz="2200" dirty="0"/>
              <a:t>Database connections </a:t>
            </a:r>
          </a:p>
          <a:p>
            <a:pPr lvl="1"/>
            <a:r>
              <a:rPr lang="ar-EG" sz="2200" dirty="0"/>
              <a:t>Network sockets</a:t>
            </a:r>
          </a:p>
          <a:p>
            <a:endParaRPr lang="ar-EG" sz="22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46397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A345F9-5E3B-8812-6A8D-002AD177D2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319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644</Words>
  <Application>Microsoft Office PowerPoint</Application>
  <PresentationFormat>Widescreen</PresentationFormat>
  <Paragraphs>160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✍Lecture 6 :</vt:lpstr>
      <vt:lpstr>PowerPoint Presentation</vt:lpstr>
      <vt:lpstr>✍What is an Exception</vt:lpstr>
      <vt:lpstr>✍Why Do Exceptions Occur</vt:lpstr>
      <vt:lpstr>✍Benefits of Exception Handling</vt:lpstr>
      <vt:lpstr>✍Common Exceptions in Java : </vt:lpstr>
      <vt:lpstr>✍Exception Hierarchy</vt:lpstr>
      <vt:lpstr>✍What is Exception Handling</vt:lpstr>
      <vt:lpstr>✍try Block</vt:lpstr>
      <vt:lpstr>✍Two Types of Exceptions</vt:lpstr>
      <vt:lpstr>✍Types of Exceptions</vt:lpstr>
      <vt:lpstr>✍What is a Custom Exception</vt:lpstr>
      <vt:lpstr>✍Creating a Custom Exception</vt:lpstr>
      <vt:lpstr>✍Throwing Custom Exception</vt:lpstr>
      <vt:lpstr>✍Exception Methods</vt:lpstr>
      <vt:lpstr>✍Exception Methods </vt:lpstr>
      <vt:lpstr>✍finally Block</vt:lpstr>
      <vt:lpstr>✍finally Block</vt:lpstr>
      <vt:lpstr>✍Nested try</vt:lpstr>
      <vt:lpstr>✍Multiple Exceptions</vt:lpstr>
      <vt:lpstr>✍Best Practices</vt:lpstr>
      <vt:lpstr>✍Rethrowing and Chaining Exceptions</vt:lpstr>
      <vt:lpstr>✍Why finally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Esraa Mohamed</dc:creator>
  <cp:lastModifiedBy>Esraa Mohamed</cp:lastModifiedBy>
  <cp:revision>7</cp:revision>
  <dcterms:created xsi:type="dcterms:W3CDTF">2026-08-26T20:28:21Z</dcterms:created>
  <dcterms:modified xsi:type="dcterms:W3CDTF">2026-08-28T21:30:10Z</dcterms:modified>
</cp:coreProperties>
</file>