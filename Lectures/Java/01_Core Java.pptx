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8" r:id="rId2"/>
    <p:sldId id="257" r:id="rId3"/>
    <p:sldId id="259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0" r:id="rId23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955" y="-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9T07:56:45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1603 24575,'38'-2'0,"1"-2"0,-1-1 0,58-17 0,-12 3 0,-72 16 0,-1 0 0,1 0 0,-1-1 0,0-1 0,0 0 0,0-1 0,-1 0 0,0 0 0,0-1 0,0 0 0,-1-1 0,0 0 0,0-1 0,-1 0 0,11-15 0,188-198 0,-196 211 0,1 0 0,0-2 0,-1 1 0,0-2 0,-1 1 0,0-1 0,-1-1 0,-1 0 0,0 0 0,-1-1 0,-1 1 0,0-1 0,-2-1 0,1 1 0,-2-1 0,3-26 0,-10-295 0,2 319 0,-1 0 0,-1 0 0,0 0 0,-2 0 0,0 1 0,-11-23 0,-6-5 0,-32-48 0,30 54 0,-3 1 0,-36-39 0,46 59 0,0 0 0,-2 1 0,0 2 0,-1 0 0,-33-19 0,43 29 0,-1 1 0,0 1 0,-1 0 0,1 1 0,-1 0 0,1 1 0,-1 1 0,-16-1 0,-105 7 0,117-4 0,-3 1 0,1 2 0,0 0 0,-1 1 0,2 1 0,-1 0 0,1 2 0,0 0 0,0 1 0,1 1 0,0 0 0,1 1 0,0 1 0,-19 19 0,8-4 0,1 1 0,1 1 0,1 2 0,2 0 0,-35 65 0,35-49 0,2 1 0,2 1 0,3 0 0,1 1 0,3 0 0,-7 79 0,7 15 0,10 153 0,1-286 0,1-1 0,-1 1 0,2-1 0,-1 0 0,2 1 0,5 17 0,-6-24 0,0-1 0,0 1 0,0-1 0,0 1 0,1-1 0,-1 0 0,1 0 0,0-1 0,0 1 0,0 0 0,0-1 0,1 0 0,-1 1 0,1-2 0,-1 1 0,1 0 0,-1-1 0,1 1 0,0-1 0,6 1 0,57 10 0,100 6 0,235-15 0,-219-5 0,-48 1 0,138-19 0,568-85 0,-778 95 0,18-2 0,136-3 0,-165 14 0,-21 0 0,0 1 0,-1 2 0,1 1 0,50 11 0,-22 4 0,-9-2 0,95 16 0,-103-24-133,55 17 0,-65-16-966,-7-3-5727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9T07:56:47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24575,'15'0'0,"0"-2"0,0 0 0,20-5 0,10-3 0,404-26 0,8 37 0,-174 2 0,320 39 0,-601-42 0,381 12-1365,-360-12-5461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9T07:56:4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22979,'1567'-27'0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FEC51CEC-024D-4A3E-8D3E-E5E0AD0BEB8B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41E93C83-A2FA-459D-BF8C-4EAD7078E202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70553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93C83-A2FA-459D-BF8C-4EAD7078E202}" type="slidenum">
              <a:rPr lang="ar-EG" smtClean="0"/>
              <a:t>19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23245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29F1-097C-BC9B-BDF8-8530313BC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C142B-DDAF-98E1-29D2-4D3BECBBD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EBEC1-842B-40B7-A2EE-DA82BED41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7B2CC-5ABD-4180-1173-1AE45569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00D08-39A6-1E70-01EB-07619890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2289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6805-1ADA-ACAB-8EA2-239C7373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DD01B-E3D6-7680-7BE5-E5ABAF4B9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A3621-860F-56F5-A79F-02FCE888B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EC271-AED3-6F01-4AA6-B93CE5498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C978E-17C3-512E-5A9B-7C13BD9E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72454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4ABDF-6460-91F9-6058-A8866EA4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B9CD3-FD6A-6A4C-71F5-3B77CD5DD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86CCA-34E3-D62C-7F75-428D9B91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BC5D0-0C77-F23C-B3A8-FED56894F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24E05-8E77-815E-6B31-56A62F4E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61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DC31B-0971-A0FE-BF20-C44FBA316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2C47-C237-D33D-7A04-85A32E26B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786F3-E2E4-3B4C-9967-93624015D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A6276-C86A-1803-33CB-749125DAA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4471C-C574-9F91-4AE2-89F6950D4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6766D-B29A-9F94-2D35-2B469AF6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17593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2655-4DDC-AEBC-EA2B-D192C5F16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FC860-C842-641B-5691-798DAAD35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AD6AB-01F6-C4F9-28CA-5E2E86E22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220B1-97C1-0E7C-C8C1-E5610B650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CFF206-053D-A17C-FC2D-3369F6EF1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46A94-4F73-80CD-BBDC-06F1F4BC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6F753-2044-3891-51BB-72B5423B5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1EF37-8449-CD5A-304E-508E59BA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6118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46E4-B90A-EDB8-C9DB-B536EBC72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11B1E-322B-50CC-C39F-FD55F982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96928-71EA-5606-38F2-3B3E1500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AEBF0-C4E4-5F04-77E0-5B8668F2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83881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3C40E2-A785-BDBA-D19B-B69262162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568FE-F151-76F8-912A-0E1B681BD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1B3A9-E162-DE6B-F5FB-C14A0A7B4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3157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3171-9020-FD55-0B1C-4603B4E4F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1D89E-76FB-B525-A4A2-0A525683A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B6322-1787-F2C8-6690-C99248BD6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5AAF9-8813-7743-26FF-C3A41FE4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334BA-9E41-AD1F-2209-763B963D4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AF5D3-47E4-6693-BDCF-427A0034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32351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7ACF-6E52-ED13-E48D-36869BD87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8A26F8-11C9-E738-F213-DE0AE2350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670C2-89F4-36BE-2363-7B9D7C3E9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440ED-9DBB-05BC-2192-24F030251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0B315-EF80-8E1C-CC60-5335B181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80291-6064-EDDD-24D8-CB8E8098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5881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966C2-E318-1CD4-2F03-61204559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25233-BB1E-E19F-F494-99E2F2608C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7734A-8BEB-0DD9-4888-AA2F23F3C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A6D36-E5D7-2DF8-3ADD-866735B8B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C191C-40F1-AB7C-B59A-2EFEF1EA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35172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0D2D3-4D9C-E280-2024-4E5977A7D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1D939-3035-6526-F820-BFD69D9F0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B46BF-F8FF-7467-7DE7-03D1B8E4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E545-3C08-D538-2557-90E888927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AC68D-BCEC-4D15-BD2D-22F84E2A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8076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4A0AD-0427-7CAB-AB73-C11592819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5D761-F531-E7DB-ADD6-36E2FF522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52B5F-E12A-9035-E84F-545F60A9C4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EDC71E-07BC-4FB7-BAAA-E868ECF8814C}" type="datetimeFigureOut">
              <a:rPr lang="ar-EG" smtClean="0"/>
              <a:t>06/03/1448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07D33-18A1-5733-C2FC-65BC52BFA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AC5E3-BB26-FCB4-24BD-E5FCEC1A3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569C4-7140-4345-90AB-0CC873A6E50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3930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0DBAC5-1037-1ED7-1CF5-6601493642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909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946D79-55F8-D925-93A2-8B3BE139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3D3FE-2426-CC13-9378-51338EAFF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200" dirty="0"/>
              <a:t>Define Java and understand its main characteristics. </a:t>
            </a:r>
          </a:p>
          <a:p>
            <a:pPr lvl="0"/>
            <a:r>
              <a:rPr lang="ar-EG" sz="2200" dirty="0"/>
              <a:t>Describe the history and evolution of Java. </a:t>
            </a:r>
          </a:p>
          <a:p>
            <a:pPr lvl="0"/>
            <a:r>
              <a:rPr lang="ar-EG" sz="2200" dirty="0"/>
              <a:t>Explain why Java was created. </a:t>
            </a:r>
          </a:p>
          <a:p>
            <a:pPr lvl="0"/>
            <a:r>
              <a:rPr lang="ar-EG" sz="2200" dirty="0"/>
              <a:t>Identify the key features of Java. </a:t>
            </a:r>
          </a:p>
          <a:p>
            <a:pPr lvl="0"/>
            <a:r>
              <a:rPr lang="ar-EG" sz="2200" dirty="0"/>
              <a:t>Compare Java with C++. </a:t>
            </a:r>
          </a:p>
          <a:p>
            <a:pPr lvl="0"/>
            <a:r>
              <a:rPr lang="ar-EG" sz="2200" dirty="0"/>
              <a:t>Understand JVM, JRE, and JDK. </a:t>
            </a:r>
          </a:p>
          <a:p>
            <a:pPr lvl="0"/>
            <a:r>
              <a:rPr lang="ar-EG" sz="2200" dirty="0"/>
              <a:t>Explain how Java programs are executed.</a:t>
            </a:r>
          </a:p>
          <a:p>
            <a:pPr marL="0" indent="0">
              <a:buNone/>
            </a:pPr>
            <a:endParaRPr lang="ar-EG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964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106CA5-195F-88FC-803C-771961BC5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✍From C++ to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5C4C8-2A21-E81C-A3F6-46993A115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What are the strengths of C++</a:t>
            </a:r>
            <a:r>
              <a:rPr lang="en-US" sz="2400" dirty="0"/>
              <a:t> ?</a:t>
            </a:r>
            <a:endParaRPr lang="ar-EG" sz="2400" dirty="0"/>
          </a:p>
          <a:p>
            <a:pPr lvl="0"/>
            <a:r>
              <a:rPr lang="ar-EG" sz="2400" dirty="0"/>
              <a:t>What challenges can developers face? </a:t>
            </a:r>
          </a:p>
          <a:p>
            <a:pPr lvl="0"/>
            <a:r>
              <a:rPr lang="ar-EG" sz="2400" dirty="0"/>
              <a:t>Can software run on different platforms? </a:t>
            </a:r>
          </a:p>
          <a:p>
            <a:pPr lvl="0"/>
            <a:r>
              <a:rPr lang="ar-EG" sz="2400" dirty="0"/>
              <a:t>How can programming become simpler and safer?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697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D3C71-36C9-6535-F904-57DDED4D9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✍What is Java?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B5DCA-E4FD-4204-5269-8C374460D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High-Level Programming Language </a:t>
            </a:r>
          </a:p>
          <a:p>
            <a:pPr lvl="0"/>
            <a:r>
              <a:rPr lang="ar-EG" sz="2400" dirty="0"/>
              <a:t>General-Purpose Programming Language </a:t>
            </a:r>
          </a:p>
          <a:p>
            <a:pPr lvl="0"/>
            <a:r>
              <a:rPr lang="ar-EG" sz="2400" dirty="0"/>
              <a:t>Object-Oriented Programming Language </a:t>
            </a:r>
          </a:p>
          <a:p>
            <a:pPr lvl="0"/>
            <a:r>
              <a:rPr lang="ar-EG" sz="2400" dirty="0"/>
              <a:t>Platform-Independent Language </a:t>
            </a:r>
            <a:endParaRPr lang="en-US" sz="2400" dirty="0"/>
          </a:p>
          <a:p>
            <a:pPr marL="0" lvl="0" indent="0">
              <a:buNone/>
            </a:pPr>
            <a:endParaRPr lang="ar-EG" sz="2400" dirty="0"/>
          </a:p>
          <a:p>
            <a:r>
              <a:rPr lang="ar-EG" sz="2400" b="1" dirty="0"/>
              <a:t>Java is designed to be portable, secure, and robust.</a:t>
            </a:r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8D8511E-2B54-0927-1BB8-B0AE5128A334}"/>
                  </a:ext>
                </a:extLst>
              </p14:cNvPr>
              <p14:cNvContentPartPr/>
              <p14:nvPr/>
            </p14:nvContentPartPr>
            <p14:xfrm>
              <a:off x="873804" y="5415005"/>
              <a:ext cx="1159200" cy="577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8D8511E-2B54-0927-1BB8-B0AE5128A3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804" y="5406365"/>
                <a:ext cx="117684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57AB2D-0EF1-533F-9536-E6A34008C8DE}"/>
                  </a:ext>
                </a:extLst>
              </p14:cNvPr>
              <p14:cNvContentPartPr/>
              <p14:nvPr/>
            </p14:nvContentPartPr>
            <p14:xfrm>
              <a:off x="4630044" y="6019445"/>
              <a:ext cx="837360" cy="21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57AB2D-0EF1-533F-9536-E6A34008C8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1044" y="6010805"/>
                <a:ext cx="8550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F4DD4F2-C1B4-8739-F202-7F82CEFCB9D0}"/>
                  </a:ext>
                </a:extLst>
              </p14:cNvPr>
              <p14:cNvContentPartPr/>
              <p14:nvPr/>
            </p14:nvContentPartPr>
            <p14:xfrm>
              <a:off x="6040164" y="5972285"/>
              <a:ext cx="564480" cy="9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F4DD4F2-C1B4-8739-F202-7F82CEFCB9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31524" y="5963285"/>
                <a:ext cx="582120" cy="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549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8A3A8-B0A0-8CB1-5B43-00F74DACA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✍The Beginning of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2A918-BC1B-C4EB-E338-17E55CFFA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Java development started at </a:t>
            </a:r>
            <a:r>
              <a:rPr lang="ar-EG" sz="2400" b="1" dirty="0"/>
              <a:t>Sun Microsystems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The project began in </a:t>
            </a:r>
            <a:r>
              <a:rPr lang="ar-EG" sz="2400" b="1" dirty="0"/>
              <a:t>1991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It was called the </a:t>
            </a:r>
            <a:r>
              <a:rPr lang="ar-EG" sz="2400" b="1" dirty="0"/>
              <a:t>Green Project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The project focused on software for consumer electronic devices. </a:t>
            </a:r>
          </a:p>
          <a:p>
            <a:pPr lvl="0"/>
            <a:r>
              <a:rPr lang="ar-EG" sz="2400" b="1" dirty="0"/>
              <a:t>James Gosling</a:t>
            </a:r>
            <a:r>
              <a:rPr lang="ar-EG" sz="2400" dirty="0"/>
              <a:t> was one of the key members of the team. </a:t>
            </a:r>
          </a:p>
          <a:p>
            <a:pPr marL="0" indent="0">
              <a:buNone/>
            </a:pPr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983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D0597-DE5A-71B0-E16F-F844111E0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✍James Gosling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E4417-3FBA-C5D9-CC54-D6C16E797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ar-EG" sz="2400" b="1" dirty="0"/>
              <a:t>"The Father of Java"</a:t>
            </a:r>
          </a:p>
          <a:p>
            <a:pPr lvl="0"/>
            <a:r>
              <a:rPr lang="ar-EG" sz="2400" dirty="0"/>
              <a:t>Canadian computer scientist. </a:t>
            </a:r>
          </a:p>
          <a:p>
            <a:pPr lvl="0"/>
            <a:r>
              <a:rPr lang="ar-EG" sz="2400" dirty="0"/>
              <a:t>One of the main creators of Java. </a:t>
            </a:r>
          </a:p>
          <a:p>
            <a:pPr lvl="0"/>
            <a:r>
              <a:rPr lang="ar-EG" sz="2400" dirty="0"/>
              <a:t>Worked at Sun Microsystems. </a:t>
            </a:r>
          </a:p>
          <a:p>
            <a:pPr lvl="0"/>
            <a:r>
              <a:rPr lang="ar-EG" sz="2400" dirty="0"/>
              <a:t>Led the development of the original Java language.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935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4E7FF4-9DB5-8703-CA05-C42E6BA1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✍From Oak to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82436-A403-5B11-90CD-B0E81E75B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200" dirty="0"/>
              <a:t>Java was originally called:</a:t>
            </a:r>
          </a:p>
          <a:p>
            <a:r>
              <a:rPr lang="ar-EG" sz="2200" b="1" dirty="0"/>
              <a:t>Oak</a:t>
            </a:r>
          </a:p>
          <a:p>
            <a:r>
              <a:rPr lang="ar-EG" sz="2200" dirty="0"/>
              <a:t>🌳</a:t>
            </a:r>
          </a:p>
          <a:p>
            <a:pPr lvl="0"/>
            <a:r>
              <a:rPr lang="ar-EG" sz="2200" dirty="0"/>
              <a:t>The name was inspired by an oak tree. </a:t>
            </a:r>
          </a:p>
          <a:p>
            <a:pPr lvl="0"/>
            <a:r>
              <a:rPr lang="ar-EG" sz="2200" dirty="0"/>
              <a:t>Oak was the original name of the language. </a:t>
            </a:r>
          </a:p>
          <a:p>
            <a:pPr lvl="0"/>
            <a:r>
              <a:rPr lang="ar-EG" sz="2200" dirty="0"/>
              <a:t>The name was later changed. </a:t>
            </a:r>
          </a:p>
          <a:p>
            <a:pPr lvl="0"/>
            <a:r>
              <a:rPr lang="ar-EG" sz="2200" dirty="0"/>
              <a:t>The language became known as </a:t>
            </a:r>
            <a:r>
              <a:rPr lang="ar-EG" sz="2200" b="1" dirty="0"/>
              <a:t>Java</a:t>
            </a:r>
            <a:r>
              <a:rPr lang="ar-EG" sz="2200" dirty="0"/>
              <a:t>. </a:t>
            </a:r>
          </a:p>
          <a:p>
            <a:endParaRPr lang="ar-EG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326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17ECD-EFAA-539B-092E-50C04A79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✍Java in 1995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2C158-5F4A-4B58-F3B8-60C618F7B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In </a:t>
            </a:r>
            <a:r>
              <a:rPr lang="ar-EG" sz="2400" b="1" dirty="0"/>
              <a:t>1995</a:t>
            </a:r>
            <a:r>
              <a:rPr lang="ar-EG" sz="2400" dirty="0"/>
              <a:t>:</a:t>
            </a:r>
          </a:p>
          <a:p>
            <a:pPr lvl="0"/>
            <a:r>
              <a:rPr lang="ar-EG" sz="2400" dirty="0"/>
              <a:t>Java was officially introduced to the public. </a:t>
            </a:r>
          </a:p>
          <a:p>
            <a:pPr lvl="0"/>
            <a:r>
              <a:rPr lang="ar-EG" sz="2400" dirty="0"/>
              <a:t>The Internet was rapidly growing. </a:t>
            </a:r>
          </a:p>
          <a:p>
            <a:pPr lvl="0"/>
            <a:r>
              <a:rPr lang="ar-EG" sz="2400" dirty="0"/>
              <a:t>Java attracted attention because of its portability. </a:t>
            </a:r>
          </a:p>
          <a:p>
            <a:pPr lvl="0"/>
            <a:r>
              <a:rPr lang="ar-EG" sz="2400" dirty="0"/>
              <a:t>Java became strongly associated with the idea: </a:t>
            </a:r>
          </a:p>
          <a:p>
            <a:r>
              <a:rPr lang="ar-EG" sz="2400" b="1" dirty="0"/>
              <a:t>"Write Once, Run Anywhere"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723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0DB3A-273A-80D0-3C76-028C937EE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✍The Big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1D63A-5724-CB91-AF66-EB25DEB75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Java source code is compiled into:</a:t>
            </a:r>
          </a:p>
          <a:p>
            <a:r>
              <a:rPr lang="ar-EG" sz="2400" b="1" dirty="0"/>
              <a:t>Bytecode</a:t>
            </a:r>
          </a:p>
          <a:p>
            <a:r>
              <a:rPr lang="ar-EG" sz="2400" dirty="0"/>
              <a:t>Bytecode can run on different operating systems through the:</a:t>
            </a:r>
          </a:p>
          <a:p>
            <a:r>
              <a:rPr lang="ar-EG" sz="2400" b="1" dirty="0"/>
              <a:t>Java Virtual Machine (JVM)</a:t>
            </a:r>
          </a:p>
          <a:p>
            <a:pPr marL="0" indent="0">
              <a:buNone/>
            </a:pPr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43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B6D4C-26A5-0526-BB85-6001C88AB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✍Why Was Java Created</a:t>
            </a:r>
            <a:r>
              <a:rPr lang="en-US" sz="4800"/>
              <a:t>?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4BAEE-4894-C158-2023-9643CBBA3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1900" dirty="0"/>
              <a:t>Java aimed to provide a programming language that is:</a:t>
            </a:r>
          </a:p>
          <a:p>
            <a:pPr lvl="0"/>
            <a:r>
              <a:rPr lang="ar-EG" sz="1900" dirty="0"/>
              <a:t>Simple </a:t>
            </a:r>
          </a:p>
          <a:p>
            <a:pPr lvl="0"/>
            <a:r>
              <a:rPr lang="ar-EG" sz="1900" dirty="0"/>
              <a:t>Portable </a:t>
            </a:r>
          </a:p>
          <a:p>
            <a:pPr lvl="0"/>
            <a:r>
              <a:rPr lang="ar-EG" sz="1900" dirty="0"/>
              <a:t>Secure </a:t>
            </a:r>
          </a:p>
          <a:p>
            <a:pPr lvl="0"/>
            <a:r>
              <a:rPr lang="ar-EG" sz="1900" dirty="0"/>
              <a:t>Robust </a:t>
            </a:r>
          </a:p>
          <a:p>
            <a:pPr lvl="0"/>
            <a:r>
              <a:rPr lang="ar-EG" sz="1900" dirty="0"/>
              <a:t>Object-Oriented </a:t>
            </a:r>
          </a:p>
          <a:p>
            <a:pPr lvl="0"/>
            <a:r>
              <a:rPr lang="ar-EG" sz="1900" dirty="0"/>
              <a:t>Platform Independent </a:t>
            </a:r>
          </a:p>
          <a:p>
            <a:r>
              <a:rPr lang="ar-EG" sz="1900" b="1" dirty="0"/>
              <a:t>Goal: Software that can run across different platforms.</a:t>
            </a:r>
          </a:p>
          <a:p>
            <a:endParaRPr lang="ar-EG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605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ACF44-E7B7-6436-AEB1-2088FFEA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✍Key Features of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16BD6-EE80-F80C-7917-C8FDA4360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1500" b="1" dirty="0"/>
              <a:t>Simple</a:t>
            </a:r>
            <a:r>
              <a:rPr lang="ar-EG" sz="1500" dirty="0"/>
              <a:t> </a:t>
            </a:r>
          </a:p>
          <a:p>
            <a:pPr lvl="0"/>
            <a:r>
              <a:rPr lang="ar-EG" sz="1500" b="1" dirty="0"/>
              <a:t>Object-Oriented</a:t>
            </a:r>
            <a:r>
              <a:rPr lang="ar-EG" sz="1500" dirty="0"/>
              <a:t> </a:t>
            </a:r>
          </a:p>
          <a:p>
            <a:pPr lvl="0"/>
            <a:r>
              <a:rPr lang="ar-EG" sz="1500" b="1" dirty="0"/>
              <a:t>Platform Independent</a:t>
            </a:r>
            <a:r>
              <a:rPr lang="ar-EG" sz="1500" dirty="0"/>
              <a:t> </a:t>
            </a:r>
          </a:p>
          <a:p>
            <a:pPr lvl="0"/>
            <a:r>
              <a:rPr lang="ar-EG" sz="1500" b="1" dirty="0"/>
              <a:t>Portable</a:t>
            </a:r>
            <a:r>
              <a:rPr lang="ar-EG" sz="1500" dirty="0"/>
              <a:t> </a:t>
            </a:r>
          </a:p>
          <a:p>
            <a:pPr lvl="0"/>
            <a:r>
              <a:rPr lang="ar-EG" sz="1500" b="1" dirty="0"/>
              <a:t>Secure</a:t>
            </a:r>
            <a:r>
              <a:rPr lang="ar-EG" sz="1500" dirty="0"/>
              <a:t> </a:t>
            </a:r>
          </a:p>
          <a:p>
            <a:pPr lvl="0"/>
            <a:r>
              <a:rPr lang="ar-EG" sz="1500" b="1" dirty="0"/>
              <a:t>Robust</a:t>
            </a:r>
            <a:r>
              <a:rPr lang="ar-EG" sz="1500" dirty="0"/>
              <a:t> </a:t>
            </a:r>
          </a:p>
          <a:p>
            <a:pPr lvl="0"/>
            <a:r>
              <a:rPr lang="ar-EG" sz="1500" b="1" dirty="0"/>
              <a:t>Multithreaded</a:t>
            </a:r>
            <a:r>
              <a:rPr lang="ar-EG" sz="1500" dirty="0"/>
              <a:t> </a:t>
            </a:r>
          </a:p>
          <a:p>
            <a:pPr lvl="0"/>
            <a:r>
              <a:rPr lang="ar-EG" sz="1500" b="1" dirty="0"/>
              <a:t>Distributed</a:t>
            </a:r>
            <a:r>
              <a:rPr lang="ar-EG" sz="1500" dirty="0"/>
              <a:t> </a:t>
            </a:r>
          </a:p>
          <a:p>
            <a:pPr lvl="0"/>
            <a:r>
              <a:rPr lang="ar-EG" sz="1500" b="1" dirty="0"/>
              <a:t>Dynamic</a:t>
            </a:r>
            <a:r>
              <a:rPr lang="ar-EG" sz="1500" dirty="0"/>
              <a:t> </a:t>
            </a:r>
          </a:p>
          <a:p>
            <a:endParaRPr lang="ar-EG" sz="15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486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3F165-260A-9DED-567B-B8FA4C0D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 Java is Object-Oriented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2AF24-1095-EBDC-A2AA-65A0A585B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1900" dirty="0"/>
              <a:t>Java is based on the principles of Object-Oriented Programming:</a:t>
            </a:r>
          </a:p>
          <a:p>
            <a:pPr lvl="0"/>
            <a:r>
              <a:rPr lang="ar-EG" sz="1900" dirty="0"/>
              <a:t>Classes </a:t>
            </a:r>
          </a:p>
          <a:p>
            <a:pPr lvl="0"/>
            <a:r>
              <a:rPr lang="ar-EG" sz="1900" dirty="0"/>
              <a:t>Objects </a:t>
            </a:r>
          </a:p>
          <a:p>
            <a:pPr lvl="0"/>
            <a:r>
              <a:rPr lang="ar-EG" sz="1900" dirty="0"/>
              <a:t>Encapsulation </a:t>
            </a:r>
          </a:p>
          <a:p>
            <a:pPr lvl="0"/>
            <a:r>
              <a:rPr lang="ar-EG" sz="1900" dirty="0"/>
              <a:t>Inheritance </a:t>
            </a:r>
          </a:p>
          <a:p>
            <a:pPr lvl="0"/>
            <a:r>
              <a:rPr lang="ar-EG" sz="1900" dirty="0"/>
              <a:t>Polymorphism </a:t>
            </a:r>
          </a:p>
          <a:p>
            <a:pPr lvl="0"/>
            <a:r>
              <a:rPr lang="ar-EG" sz="1900" dirty="0"/>
              <a:t>Abstraction </a:t>
            </a:r>
          </a:p>
          <a:p>
            <a:r>
              <a:rPr lang="ar-EG" sz="1900" b="1" dirty="0"/>
              <a:t>These concepts are also familiar from C++.</a:t>
            </a:r>
          </a:p>
          <a:p>
            <a:endParaRPr lang="ar-EG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966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2AB13D-BB92-B74F-19F0-7703E7DF7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ar-EG" sz="4800" b="1" dirty="0"/>
              <a:t>Java vs C++</a:t>
            </a:r>
            <a:endParaRPr lang="ar-EG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CE981B-5AD0-BEFD-D054-53BACD4ECB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8136368"/>
              </p:ext>
            </p:extLst>
          </p:nvPr>
        </p:nvGraphicFramePr>
        <p:xfrm>
          <a:off x="841535" y="3005534"/>
          <a:ext cx="10336290" cy="3238512"/>
        </p:xfrm>
        <a:graphic>
          <a:graphicData uri="http://schemas.openxmlformats.org/drawingml/2006/table">
            <a:tbl>
              <a:tblPr/>
              <a:tblGrid>
                <a:gridCol w="4498304">
                  <a:extLst>
                    <a:ext uri="{9D8B030D-6E8A-4147-A177-3AD203B41FA5}">
                      <a16:colId xmlns:a16="http://schemas.microsoft.com/office/drawing/2014/main" val="4184521264"/>
                    </a:ext>
                  </a:extLst>
                </a:gridCol>
                <a:gridCol w="5837986">
                  <a:extLst>
                    <a:ext uri="{9D8B030D-6E8A-4147-A177-3AD203B41FA5}">
                      <a16:colId xmlns:a16="http://schemas.microsoft.com/office/drawing/2014/main" val="3125636204"/>
                    </a:ext>
                  </a:extLst>
                </a:gridCol>
              </a:tblGrid>
              <a:tr h="425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800" b="1" dirty="0"/>
                        <a:t>C++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800" b="1" dirty="0"/>
                        <a:t>Java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382806"/>
                  </a:ext>
                </a:extLst>
              </a:tr>
              <a:tr h="42562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Compiled to native machine code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Compiled to Bytecode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824054"/>
                  </a:ext>
                </a:extLst>
              </a:tr>
              <a:tr h="42562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Manual memory management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 Automatic Garbage Collection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162405"/>
                  </a:ext>
                </a:extLst>
              </a:tr>
              <a:tr h="42562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Pointers are available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No direct pointer manipulation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534705"/>
                  </a:ext>
                </a:extLst>
              </a:tr>
              <a:tr h="68479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Supports multiple inheritance of classes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Does not support multiple inheritance of classes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150906"/>
                  </a:ext>
                </a:extLst>
              </a:tr>
              <a:tr h="42562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Platform-dependent executable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Platform-independent through JVM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133827"/>
                  </a:ext>
                </a:extLst>
              </a:tr>
              <a:tr h="42562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Uses header files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ar-EG" sz="1800" dirty="0"/>
                        <a:t>No traditional header files</a:t>
                      </a:r>
                    </a:p>
                  </a:txBody>
                  <a:tcPr marL="90247" marR="90247" marT="45124" marB="451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511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221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0E12B-BC24-4B46-2F7C-BB9E4C52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E3B25-E7AD-51E4-2521-29D992879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C++ </a:t>
            </a:r>
          </a:p>
          <a:p>
            <a:pPr lvl="1"/>
            <a:r>
              <a:rPr lang="ar-EG" sz="1500" dirty="0"/>
              <a:t>Programmers can manually manage memory using:</a:t>
            </a:r>
          </a:p>
          <a:p>
            <a:pPr lvl="1"/>
            <a:r>
              <a:rPr lang="ar-EG" sz="1500" dirty="0"/>
              <a:t>new </a:t>
            </a:r>
          </a:p>
          <a:p>
            <a:pPr lvl="1"/>
            <a:r>
              <a:rPr lang="ar-EG" sz="1500" dirty="0"/>
              <a:t>delete </a:t>
            </a:r>
          </a:p>
          <a:p>
            <a:r>
              <a:rPr lang="ar-EG" sz="1900" b="1" dirty="0"/>
              <a:t>Java</a:t>
            </a:r>
          </a:p>
          <a:p>
            <a:pPr lvl="1"/>
            <a:r>
              <a:rPr lang="ar-EG" sz="1500" dirty="0"/>
              <a:t>Java uses:</a:t>
            </a:r>
          </a:p>
          <a:p>
            <a:pPr lvl="1"/>
            <a:r>
              <a:rPr lang="ar-EG" sz="1500" b="1" dirty="0"/>
              <a:t>Automatic Garbage Collection</a:t>
            </a:r>
          </a:p>
          <a:p>
            <a:pPr lvl="1"/>
            <a:r>
              <a:rPr lang="ar-EG" sz="1500" dirty="0"/>
              <a:t>The JVM automatically manages memory and removes objects that are no longer needed.</a:t>
            </a:r>
          </a:p>
          <a:p>
            <a:endParaRPr lang="ar-EG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600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04B4DD-B7BD-B783-959A-1A85EED6E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✍Pointers</a:t>
            </a:r>
            <a:r>
              <a:rPr lang="en-US" sz="4800"/>
              <a:t> ❗😥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E6170-619E-072C-FE2F-692D5E85D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200" b="1" dirty="0"/>
              <a:t>C++</a:t>
            </a:r>
          </a:p>
          <a:p>
            <a:pPr lvl="1"/>
            <a:r>
              <a:rPr lang="ar-EG" sz="2200" dirty="0"/>
              <a:t>Supports pointers. </a:t>
            </a:r>
          </a:p>
          <a:p>
            <a:pPr lvl="1"/>
            <a:r>
              <a:rPr lang="ar-EG" sz="2200" dirty="0"/>
              <a:t>Allows direct memory manipulation. </a:t>
            </a:r>
          </a:p>
          <a:p>
            <a:pPr lvl="1"/>
            <a:r>
              <a:rPr lang="ar-EG" sz="2200" dirty="0"/>
              <a:t>Programmers can work with memory addresses. </a:t>
            </a:r>
            <a:endParaRPr lang="en-US" sz="2200" dirty="0"/>
          </a:p>
          <a:p>
            <a:pPr marL="457200" lvl="1" indent="0">
              <a:buNone/>
            </a:pPr>
            <a:endParaRPr lang="ar-EG" sz="2200" dirty="0"/>
          </a:p>
          <a:p>
            <a:r>
              <a:rPr lang="ar-EG" sz="2200" b="1" dirty="0"/>
              <a:t>Java</a:t>
            </a:r>
          </a:p>
          <a:p>
            <a:pPr lvl="1"/>
            <a:r>
              <a:rPr lang="ar-EG" sz="2200" dirty="0"/>
              <a:t>Does not provide direct pointer manipulation. </a:t>
            </a:r>
          </a:p>
          <a:p>
            <a:pPr lvl="1"/>
            <a:r>
              <a:rPr lang="ar-EG" sz="2200" dirty="0"/>
              <a:t>Memory management is handled automatically. </a:t>
            </a:r>
          </a:p>
          <a:p>
            <a:endParaRPr lang="ar-EG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522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D97D4-40C7-A765-212B-A27F43B9E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✍What is Bytecode</a:t>
            </a:r>
            <a:r>
              <a:rPr lang="en-US" sz="4800"/>
              <a:t> ? 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4898C-6095-9870-0603-475B0805A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Bytecode is the </a:t>
            </a:r>
            <a:r>
              <a:rPr lang="ar-EG" sz="2400" b="1" dirty="0"/>
              <a:t>intermediate code</a:t>
            </a:r>
            <a:r>
              <a:rPr lang="ar-EG" sz="2400" dirty="0"/>
              <a:t> generated by the Java compiler.</a:t>
            </a:r>
          </a:p>
          <a:p>
            <a:pPr lvl="0"/>
            <a:r>
              <a:rPr lang="ar-EG" sz="2400" dirty="0"/>
              <a:t>Stored in .class files. </a:t>
            </a:r>
          </a:p>
          <a:p>
            <a:pPr lvl="0"/>
            <a:r>
              <a:rPr lang="ar-EG" sz="2400" dirty="0"/>
              <a:t>Executed by the JVM. </a:t>
            </a:r>
          </a:p>
          <a:p>
            <a:pPr lvl="0"/>
            <a:r>
              <a:rPr lang="ar-EG" sz="2400" dirty="0"/>
              <a:t>Not directly tied to a specific operating system. </a:t>
            </a:r>
          </a:p>
          <a:p>
            <a:pPr lvl="0"/>
            <a:r>
              <a:rPr lang="ar-EG" sz="2400" dirty="0"/>
              <a:t>Enables Java's platform independence.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318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35249-4323-7594-47D8-67BA2CBBD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✍What is JVM </a:t>
            </a:r>
            <a:r>
              <a:rPr lang="en-US" sz="4800" dirty="0"/>
              <a:t> ? 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F3DDA-506D-1F33-FA37-A729858D6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200" dirty="0"/>
              <a:t>The JVM is responsible for:</a:t>
            </a:r>
          </a:p>
          <a:p>
            <a:pPr lvl="0"/>
            <a:r>
              <a:rPr lang="ar-EG" sz="2200" dirty="0"/>
              <a:t>Executing Java Bytecode. </a:t>
            </a:r>
          </a:p>
          <a:p>
            <a:pPr lvl="0"/>
            <a:r>
              <a:rPr lang="ar-EG" sz="2200" dirty="0"/>
              <a:t>Managing memory. </a:t>
            </a:r>
          </a:p>
          <a:p>
            <a:pPr lvl="0"/>
            <a:r>
              <a:rPr lang="ar-EG" sz="2200" dirty="0"/>
              <a:t>Performing Garbage Collection. </a:t>
            </a:r>
          </a:p>
          <a:p>
            <a:pPr lvl="0"/>
            <a:r>
              <a:rPr lang="ar-EG" sz="2200" dirty="0"/>
              <a:t>Providing the runtime environment. </a:t>
            </a:r>
          </a:p>
          <a:p>
            <a:pPr lvl="0"/>
            <a:r>
              <a:rPr lang="ar-EG" sz="2200" dirty="0"/>
              <a:t>Supporting platform independence. </a:t>
            </a:r>
          </a:p>
          <a:p>
            <a:r>
              <a:rPr lang="ar-EG" sz="2200" b="1" dirty="0"/>
              <a:t>JVM is software, not a physical machine.</a:t>
            </a:r>
          </a:p>
          <a:p>
            <a:endParaRPr lang="ar-EG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840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1306B-3617-278D-2407-8DB82733F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b="1"/>
              <a:t>✍JDK, JRE &amp; JVM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4DAD7-6864-8F5A-8D0E-803909D62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JDK — Java Development Kit</a:t>
            </a:r>
          </a:p>
          <a:p>
            <a:r>
              <a:rPr lang="ar-EG" sz="2400" dirty="0"/>
              <a:t>Used to </a:t>
            </a:r>
            <a:r>
              <a:rPr lang="ar-EG" sz="2400" b="1" dirty="0"/>
              <a:t>develop</a:t>
            </a:r>
            <a:r>
              <a:rPr lang="ar-EG" sz="2400" dirty="0"/>
              <a:t> Java applications.</a:t>
            </a:r>
          </a:p>
          <a:p>
            <a:r>
              <a:rPr lang="ar-EG" sz="2400" b="1" dirty="0"/>
              <a:t>JRE — Java Runtime Environment</a:t>
            </a:r>
          </a:p>
          <a:p>
            <a:r>
              <a:rPr lang="ar-EG" sz="2400" dirty="0"/>
              <a:t>Provides the environment required to </a:t>
            </a:r>
            <a:r>
              <a:rPr lang="ar-EG" sz="2400" b="1" dirty="0"/>
              <a:t>run</a:t>
            </a:r>
            <a:r>
              <a:rPr lang="ar-EG" sz="2400" dirty="0"/>
              <a:t> Java applications.</a:t>
            </a:r>
          </a:p>
          <a:p>
            <a:r>
              <a:rPr lang="ar-EG" sz="2400" b="1" dirty="0"/>
              <a:t>JVM — Java Virtual Machine</a:t>
            </a:r>
          </a:p>
          <a:p>
            <a:r>
              <a:rPr lang="ar-EG" sz="2400" b="1" dirty="0"/>
              <a:t>Executes Java Bytecode.</a:t>
            </a:r>
            <a:endParaRPr lang="ar-EG" sz="2400" dirty="0"/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396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886BA-7917-123A-A9E0-4D2BFA9C5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207" y="783772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✍Java Editions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6A72C-C23E-6942-F466-37D4BFEC0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lnSpcReduction="10000"/>
          </a:bodyPr>
          <a:lstStyle/>
          <a:p>
            <a:r>
              <a:rPr lang="ar-EG" sz="1100" b="1" dirty="0"/>
              <a:t>Java SE</a:t>
            </a:r>
          </a:p>
          <a:p>
            <a:r>
              <a:rPr lang="ar-EG" sz="1100" b="1" dirty="0"/>
              <a:t>Standard Edition</a:t>
            </a:r>
            <a:endParaRPr lang="ar-EG" sz="1100" dirty="0"/>
          </a:p>
          <a:p>
            <a:pPr lvl="1"/>
            <a:r>
              <a:rPr lang="ar-EG" sz="1100" dirty="0"/>
              <a:t>Core Java </a:t>
            </a:r>
          </a:p>
          <a:p>
            <a:pPr lvl="1"/>
            <a:r>
              <a:rPr lang="ar-EG" sz="1100" dirty="0"/>
              <a:t>General-purpose applications </a:t>
            </a:r>
          </a:p>
          <a:p>
            <a:pPr lvl="1"/>
            <a:r>
              <a:rPr lang="ar-EG" sz="1100" dirty="0"/>
              <a:t>Foundation for learning Java </a:t>
            </a:r>
          </a:p>
          <a:p>
            <a:r>
              <a:rPr lang="ar-EG" sz="1100" b="1" dirty="0"/>
              <a:t>Jakarta EE</a:t>
            </a:r>
          </a:p>
          <a:p>
            <a:r>
              <a:rPr lang="ar-EG" sz="1100" b="1" dirty="0"/>
              <a:t>Enterprise Edition</a:t>
            </a:r>
            <a:endParaRPr lang="ar-EG" sz="1100" dirty="0"/>
          </a:p>
          <a:p>
            <a:pPr lvl="1"/>
            <a:r>
              <a:rPr lang="ar-EG" sz="1100" dirty="0"/>
              <a:t>Enterprise applications </a:t>
            </a:r>
          </a:p>
          <a:p>
            <a:pPr lvl="1"/>
            <a:r>
              <a:rPr lang="ar-EG" sz="1100" dirty="0"/>
              <a:t>Large-scale server-side systems </a:t>
            </a:r>
          </a:p>
          <a:p>
            <a:r>
              <a:rPr lang="ar-EG" sz="1100" b="1" dirty="0"/>
              <a:t>Java ME</a:t>
            </a:r>
          </a:p>
          <a:p>
            <a:r>
              <a:rPr lang="ar-EG" sz="1100" b="1" dirty="0"/>
              <a:t>Micro Edition</a:t>
            </a:r>
            <a:endParaRPr lang="ar-EG" sz="1100" dirty="0"/>
          </a:p>
          <a:p>
            <a:pPr lvl="1"/>
            <a:r>
              <a:rPr lang="ar-EG" sz="1100" dirty="0"/>
              <a:t>Resource-constrained devices </a:t>
            </a:r>
          </a:p>
          <a:p>
            <a:pPr lvl="1"/>
            <a:r>
              <a:rPr lang="ar-EG" sz="1100" dirty="0"/>
              <a:t>Embedded and mobile environments </a:t>
            </a:r>
          </a:p>
          <a:p>
            <a:endParaRPr lang="ar-EG" sz="11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32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F6BEAC-CCC9-9118-FF22-8B2D05BF9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✍Where is Java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60EAB-4C9F-CFE3-BF6E-5D34F07A3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200" dirty="0"/>
              <a:t>Enterprise Applications </a:t>
            </a:r>
          </a:p>
          <a:p>
            <a:pPr lvl="0"/>
            <a:r>
              <a:rPr lang="ar-EG" sz="2200" dirty="0"/>
              <a:t>Backend Development </a:t>
            </a:r>
          </a:p>
          <a:p>
            <a:pPr lvl="0"/>
            <a:r>
              <a:rPr lang="ar-EG" sz="2200" dirty="0"/>
              <a:t>Financial Systems </a:t>
            </a:r>
          </a:p>
          <a:p>
            <a:pPr lvl="0"/>
            <a:r>
              <a:rPr lang="ar-EG" sz="2200" dirty="0"/>
              <a:t>Cloud Applications </a:t>
            </a:r>
          </a:p>
          <a:p>
            <a:pPr lvl="0"/>
            <a:r>
              <a:rPr lang="ar-EG" sz="2200" dirty="0"/>
              <a:t>Big Data Technologies </a:t>
            </a:r>
          </a:p>
          <a:p>
            <a:pPr lvl="0"/>
            <a:r>
              <a:rPr lang="ar-EG" sz="2200" dirty="0"/>
              <a:t>Distributed Systems </a:t>
            </a:r>
          </a:p>
          <a:p>
            <a:pPr lvl="0"/>
            <a:r>
              <a:rPr lang="ar-EG" sz="2200" dirty="0"/>
              <a:t>Android Development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516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EA7986-004F-3896-6124-C9C974FC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✍Java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9579C-B006-68A5-A4E1-F4BB23F60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200" dirty="0"/>
              <a:t>Java continues to evolve through regular releases.</a:t>
            </a:r>
          </a:p>
          <a:p>
            <a:r>
              <a:rPr lang="ar-EG" sz="2200" dirty="0"/>
              <a:t>Modern Java focuses on:</a:t>
            </a:r>
          </a:p>
          <a:p>
            <a:pPr lvl="0"/>
            <a:r>
              <a:rPr lang="ar-EG" sz="2200" dirty="0"/>
              <a:t>Performance </a:t>
            </a:r>
          </a:p>
          <a:p>
            <a:pPr lvl="0"/>
            <a:r>
              <a:rPr lang="ar-EG" sz="2200" dirty="0"/>
              <a:t>Security </a:t>
            </a:r>
          </a:p>
          <a:p>
            <a:pPr lvl="0"/>
            <a:r>
              <a:rPr lang="ar-EG" sz="2200" dirty="0"/>
              <a:t>Developer Productivity </a:t>
            </a:r>
          </a:p>
          <a:p>
            <a:pPr lvl="0"/>
            <a:r>
              <a:rPr lang="ar-EG" sz="2200" dirty="0"/>
              <a:t>Modern Language Features </a:t>
            </a:r>
          </a:p>
          <a:p>
            <a:pPr lvl="0"/>
            <a:r>
              <a:rPr lang="ar-EG" sz="2200" dirty="0"/>
              <a:t>Cloud &amp; Enterprise Applications</a:t>
            </a:r>
          </a:p>
          <a:p>
            <a:endParaRPr lang="ar-EG" sz="2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760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398B62-1952-1A05-B6E4-CBBC619C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FD2E035E-747A-E823-67F5-D0814E6CC1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6B398CF8-8B82-4E87-BAAE-5A3DE6DEE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715</Words>
  <Application>Microsoft Office PowerPoint</Application>
  <PresentationFormat>Widescreen</PresentationFormat>
  <Paragraphs>166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✍Learning Objectives</vt:lpstr>
      <vt:lpstr>✍From C++ to Java</vt:lpstr>
      <vt:lpstr>✍What is Java?</vt:lpstr>
      <vt:lpstr>✍The Beginning of Java</vt:lpstr>
      <vt:lpstr>✍James Gosling</vt:lpstr>
      <vt:lpstr>✍From Oak to Java</vt:lpstr>
      <vt:lpstr>✍Java in 1995</vt:lpstr>
      <vt:lpstr>✍The Big Idea</vt:lpstr>
      <vt:lpstr>✍Why Was Java Created?</vt:lpstr>
      <vt:lpstr>✍Key Features of Java</vt:lpstr>
      <vt:lpstr>✍ Java is Object-Oriented</vt:lpstr>
      <vt:lpstr>Java vs C++</vt:lpstr>
      <vt:lpstr>✍Memory Management</vt:lpstr>
      <vt:lpstr>✍Pointers ❗😥</vt:lpstr>
      <vt:lpstr>✍What is Bytecode ? </vt:lpstr>
      <vt:lpstr>✍What is JVM  ? </vt:lpstr>
      <vt:lpstr>✍JDK, JRE &amp; JVM</vt:lpstr>
      <vt:lpstr>✍Java Editions</vt:lpstr>
      <vt:lpstr>✍Where is Java Used?</vt:lpstr>
      <vt:lpstr>✍Java Today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2</cp:revision>
  <dcterms:created xsi:type="dcterms:W3CDTF">2026-08-18T19:35:57Z</dcterms:created>
  <dcterms:modified xsi:type="dcterms:W3CDTF">2026-08-19T09:00:53Z</dcterms:modified>
</cp:coreProperties>
</file>