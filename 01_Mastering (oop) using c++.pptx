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0845DC7D-3C77-4E64-B80A-ACFA8E9F5FF0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86BEA7A9-F1F4-4950-999A-3ABD69EB05EB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3268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A7A9-F1F4-4950-999A-3ABD69EB05EB}" type="slidenum">
              <a:rPr lang="ar-EG" smtClean="0"/>
              <a:t>10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46401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1B6B-E146-D26D-11A1-2906DFF25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B9C13-C351-8A8C-DFD8-491A93132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DEA72-7395-8D7B-F425-FC1A888E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8955-A8A7-4776-7CC3-A2CDD15B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3FEC7-B181-F2A3-2480-47044136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9109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65D3-2F55-75C6-4F7A-8C5EB303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9F9FA-AAAF-A4B9-F075-1D12717F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EDE03-1893-6DEA-1439-EE305BB0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518AB-C7E0-5774-BF31-40E9B2C9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ECC8A-3F14-2243-9C45-756DD9D4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8387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A1D8-4DB2-22CC-298B-42764243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74D32-B285-C7A1-E98D-64B6B062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8D3F0-9866-9BA5-2DEA-D8D344EE3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67CD5-501D-C2DC-7317-7BA2DC86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8E552-96D1-25DC-D087-44892C93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0289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6A20-BFBC-27D4-4A27-93C6665D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6B6E0-B0CD-44E8-0681-D7FA09FA4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C3C5F-3DE9-00C1-43D5-9154763D4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3BB69-9757-3AFA-E2CD-4DE5C97B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FE069-6C87-872E-1CA6-306C05A7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44C29-AB33-5FEE-BE2A-6D034430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8157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8604-290A-74C1-C203-E24C75EA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A7D75-A7E5-BCA8-434E-066D8F1A4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EBBA6-A186-CF3F-408A-98D631D85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3C853-0F7B-6B3C-E99B-059252C7C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38CE0-690E-B13D-1447-869059C12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BD853-B27C-3F80-A797-E3DEBC5D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83581-43C2-60A1-C0EC-66F49579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D73EDE-C0EE-1768-30AE-D0D615EF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2497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7843-A64B-B2F5-B0B0-4BF09FEF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A13540-4327-B815-00C1-4042C390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A56EE8-E793-E352-0AC0-B2D83E7E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9F9C9-C4DE-2D18-7E89-D61A2FB5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4958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18B78-7BB2-F38A-6B2D-158E5D6E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C55E02-0BB4-7B7F-5053-A32E4350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F69D4-35B5-51D1-AEBF-135ACE50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5890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B164-4EE7-6636-12A5-BB56FC9F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CC5A5-2EA3-65A7-809D-FFE59C6D0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F80C9-BAB1-F87F-3158-B3BFD531C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F1A45-99CB-A285-96F1-04FE46E0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D90DF-BE81-6B22-CB73-F72F8980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B53FE-3167-F985-9462-BF27A2B9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85054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E9AF-1A51-63B0-72B9-4D2EBBD7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356DD-4F91-1D4D-F092-9E7E9218C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CE0EE-EB58-E757-EB50-EB547253E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2C1C5-A946-34E0-45C4-88F47C118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8D6F5-8202-1FB9-5DCC-085A6EAB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48027-6719-9E72-918F-1046F7CB4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5981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B23B-BA33-6C4C-20B2-C9A2B885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9F741-A8F3-5130-6DC6-70BF94E41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93419-F1E2-D7CC-52BF-564D5836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F9E8D-DE93-91D6-E94C-748F1C534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4CEFF-ECFE-70D4-8DF9-75F42768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2362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C7EC-CD05-B7C8-2DBE-0E4F3E2A5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48980-4872-448E-0E34-89180D90A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68058-1E8F-5170-1C06-6DD2DD87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2DEA7-46DE-378C-0732-31E69280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9197F-FB94-A157-460C-B8FA7AE7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74494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555E64-DEB7-204B-9DC7-E3B1D578E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A8E16-AF2A-DAB0-3BC2-92BDD2011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2531D-9C0D-0142-96FB-848E53BC6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07171-7406-4602-A9DB-7030924BD1F5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90691-7733-E186-BBC7-8844D8CB1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33911-EBBC-5E09-BEA1-FD2E50976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186D4-F2EA-4639-AD10-470CAE528FE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3681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D2744-435F-7704-6508-EA6D8AFF7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Mastering (oop) using c++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14EFC-9EB4-535A-5B59-9549C1A70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/>
              <a:t>✍Lecture :  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1900"/>
              <a:t>Intro to oop 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1900"/>
              <a:t>Ecabsolation 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1900"/>
              <a:t>Inhertance 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1900"/>
              <a:t>Polymorphysm 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1900"/>
              <a:t>Complex class example 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/>
              <a:t>Lab : Exercise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68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EE84-D2AC-EA69-CE5F-2BBF4A0B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✍</a:t>
            </a:r>
            <a:r>
              <a:rPr lang="ar-EG" sz="3600" dirty="0"/>
              <a:t> Structured Programming</a:t>
            </a:r>
            <a:r>
              <a:rPr lang="en-US" sz="3600" dirty="0"/>
              <a:t> ? </a:t>
            </a:r>
            <a:endParaRPr lang="ar-E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3A49-E0D4-D3D3-B76D-11FF6DCF1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EG" dirty="0">
                <a:solidFill>
                  <a:schemeClr val="accent6"/>
                </a:solidFill>
              </a:rPr>
              <a:t> Structured Programming</a:t>
            </a:r>
            <a:r>
              <a:rPr lang="en-US" dirty="0">
                <a:solidFill>
                  <a:schemeClr val="accent6"/>
                </a:solidFill>
              </a:rPr>
              <a:t> : </a:t>
            </a:r>
          </a:p>
          <a:p>
            <a:pPr lvl="1"/>
            <a:r>
              <a:rPr lang="ar-EG" dirty="0"/>
              <a:t>Break the problem into a set of functions.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main</a:t>
            </a:r>
            <a:r>
              <a:rPr lang="en-US" dirty="0"/>
              <a:t> function will handle the communication between them 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ar-EG" sz="2400" dirty="0">
                <a:solidFill>
                  <a:schemeClr val="accent2"/>
                </a:solidFill>
              </a:rPr>
              <a:t> Challenges in large programs</a:t>
            </a:r>
            <a:endParaRPr lang="en-US" sz="2400" dirty="0">
              <a:solidFill>
                <a:schemeClr val="accent2"/>
              </a:solidFill>
            </a:endParaRPr>
          </a:p>
          <a:p>
            <a:pPr lvl="1">
              <a:buFont typeface="+mj-lt"/>
              <a:buAutoNum type="arabicPeriod"/>
            </a:pPr>
            <a:r>
              <a:rPr lang="en-US" sz="1050" dirty="0"/>
              <a:t> </a:t>
            </a:r>
            <a:r>
              <a:rPr lang="ar-EG" sz="2000" dirty="0"/>
              <a:t>Transformation </a:t>
            </a:r>
          </a:p>
          <a:p>
            <a:pPr lvl="1">
              <a:buFont typeface="+mj-lt"/>
              <a:buAutoNum type="arabicPeriod"/>
            </a:pPr>
            <a:r>
              <a:rPr lang="ar-EG" sz="2000" dirty="0"/>
              <a:t> Reusability</a:t>
            </a:r>
          </a:p>
          <a:p>
            <a:pPr lvl="1">
              <a:buFont typeface="+mj-lt"/>
              <a:buAutoNum type="arabicPeriod"/>
            </a:pPr>
            <a:r>
              <a:rPr lang="ar-EG" sz="2000" dirty="0"/>
              <a:t>Maintainability</a:t>
            </a:r>
          </a:p>
          <a:p>
            <a:pPr marL="457200" lvl="1" indent="0">
              <a:buNone/>
            </a:pPr>
            <a:r>
              <a:rPr lang="en-US" sz="2800" dirty="0"/>
              <a:t> </a:t>
            </a:r>
            <a:endParaRPr lang="ar-EG" sz="2800" dirty="0"/>
          </a:p>
          <a:p>
            <a:pPr marL="457200" lvl="1" indent="0">
              <a:buNone/>
            </a:pPr>
            <a:r>
              <a:rPr lang="ar-EG" b="1" dirty="0"/>
              <a:t>"Now let's see how OOP solves these problems."</a:t>
            </a:r>
            <a:endParaRPr lang="en-US" dirty="0"/>
          </a:p>
          <a:p>
            <a:pPr marL="457200" lvl="1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921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7E90F-92D8-6C8F-2E4C-0D8E4BAE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✍Introduction to OOP</a:t>
            </a:r>
            <a:endParaRPr lang="ar-EG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7F534-2831-546F-666B-435B84C16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EG" sz="2600" dirty="0">
                <a:solidFill>
                  <a:schemeClr val="accent2"/>
                </a:solidFill>
              </a:rPr>
              <a:t> </a:t>
            </a:r>
            <a:r>
              <a:rPr lang="en-US" sz="2600" dirty="0">
                <a:solidFill>
                  <a:schemeClr val="accent2"/>
                </a:solidFill>
              </a:rPr>
              <a:t>what is OOP ?</a:t>
            </a:r>
            <a:endParaRPr lang="ar-EG" sz="2600" dirty="0">
              <a:solidFill>
                <a:schemeClr val="accent2"/>
              </a:solidFill>
            </a:endParaRPr>
          </a:p>
          <a:p>
            <a:pPr marL="457200" lvl="1" indent="0">
              <a:buNone/>
            </a:pPr>
            <a:r>
              <a:rPr lang="en-US" sz="1700" dirty="0"/>
              <a:t>  “</a:t>
            </a:r>
            <a:r>
              <a:rPr lang="ar-EG" sz="1700" dirty="0"/>
              <a:t>OOP is a programming approach where a program is organized as a collection of interacting objects.</a:t>
            </a:r>
            <a:r>
              <a:rPr lang="en-US" sz="1700" dirty="0"/>
              <a:t>” </a:t>
            </a:r>
          </a:p>
          <a:p>
            <a:pPr marL="457200" lvl="1" indent="0">
              <a:buNone/>
            </a:pPr>
            <a:endParaRPr lang="ar-EG" sz="1700" dirty="0">
              <a:solidFill>
                <a:schemeClr val="accent3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ar-EG" sz="2400" dirty="0">
                <a:solidFill>
                  <a:schemeClr val="accent3"/>
                </a:solidFill>
              </a:rPr>
              <a:t> How OOP Solves the Transformation Problem</a:t>
            </a:r>
            <a:r>
              <a:rPr lang="en-US" sz="2400" dirty="0">
                <a:solidFill>
                  <a:schemeClr val="accent3"/>
                </a:solidFill>
              </a:rPr>
              <a:t> ?!</a:t>
            </a:r>
          </a:p>
          <a:p>
            <a:pPr marL="457200" lvl="1" indent="0">
              <a:buNone/>
            </a:pPr>
            <a:r>
              <a:rPr lang="ar-EG" sz="1600" dirty="0"/>
              <a:t>"Convert the problem to set of Units – Objects instead of functio“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ar-EG" sz="2400" dirty="0">
                <a:solidFill>
                  <a:schemeClr val="accent2"/>
                </a:solidFill>
              </a:rPr>
              <a:t> What is an Object?</a:t>
            </a:r>
          </a:p>
          <a:p>
            <a:pPr marL="457200" lvl="1" indent="0">
              <a:buNone/>
            </a:pPr>
            <a:r>
              <a:rPr lang="ar-EG" sz="1600" dirty="0"/>
              <a:t> "Object is a set of attributes (Data) and set of functions (behavior)“</a:t>
            </a:r>
            <a:r>
              <a:rPr lang="en-US" sz="1600" dirty="0"/>
              <a:t>.</a:t>
            </a:r>
          </a:p>
          <a:p>
            <a:pPr marL="457200" lvl="1" indent="0">
              <a:buNone/>
            </a:pPr>
            <a:endParaRPr lang="en-US" sz="1600" dirty="0"/>
          </a:p>
          <a:p>
            <a:pPr lvl="1"/>
            <a:r>
              <a:rPr lang="ar-EG" sz="1600" dirty="0"/>
              <a:t> </a:t>
            </a:r>
            <a:r>
              <a:rPr lang="ar-EG" sz="1800" b="1" dirty="0"/>
              <a:t>Attributes</a:t>
            </a:r>
            <a:r>
              <a:rPr lang="en-US" sz="1600" b="1" dirty="0"/>
              <a:t> </a:t>
            </a:r>
            <a:r>
              <a:rPr lang="en-US" sz="1600" dirty="0"/>
              <a:t>: </a:t>
            </a:r>
            <a:r>
              <a:rPr lang="ar-EG" sz="1600" dirty="0"/>
              <a:t> Attributes describe what the object HAS.</a:t>
            </a:r>
            <a:endParaRPr lang="en-US" sz="1600" dirty="0"/>
          </a:p>
          <a:p>
            <a:pPr lvl="1"/>
            <a:r>
              <a:rPr lang="ar-EG" sz="1600" b="1" dirty="0"/>
              <a:t>Functions / Behavior</a:t>
            </a:r>
            <a:r>
              <a:rPr lang="en-US" sz="1600" b="1" dirty="0"/>
              <a:t> </a:t>
            </a:r>
            <a:r>
              <a:rPr lang="en-US" sz="1600" dirty="0"/>
              <a:t>: </a:t>
            </a:r>
            <a:r>
              <a:rPr lang="ar-EG" sz="1600" dirty="0"/>
              <a:t>Methods describe what the object DOES</a:t>
            </a:r>
            <a:r>
              <a:rPr lang="ar-EG" sz="1600" b="1" dirty="0"/>
              <a:t>.</a:t>
            </a:r>
          </a:p>
          <a:p>
            <a:pPr marL="457200" lvl="1" indent="0">
              <a:buNone/>
            </a:pPr>
            <a:endParaRPr lang="ar-EG" sz="1600" b="1" dirty="0"/>
          </a:p>
          <a:p>
            <a:pPr marL="457200" lvl="1" indent="0">
              <a:buNone/>
            </a:pPr>
            <a:endParaRPr lang="ar-EG" sz="1600" b="1" dirty="0"/>
          </a:p>
          <a:p>
            <a:pPr marL="457200" lvl="1" indent="0">
              <a:buNone/>
            </a:pPr>
            <a:endParaRPr lang="ar-EG" sz="1600" b="1" dirty="0"/>
          </a:p>
        </p:txBody>
      </p:sp>
    </p:spTree>
    <p:extLst>
      <p:ext uri="{BB962C8B-B14F-4D97-AF65-F5344CB8AC3E}">
        <p14:creationId xmlns:p14="http://schemas.microsoft.com/office/powerpoint/2010/main" val="300519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CD25-9B82-7E1B-374A-488FDE8B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EG" sz="4000" dirty="0"/>
              <a:t>✍Class vs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07927-965E-BB58-C0B9-A3AC82002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03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ar-EG" dirty="0"/>
              <a:t> </a:t>
            </a:r>
            <a:r>
              <a:rPr lang="ar-EG" dirty="0">
                <a:solidFill>
                  <a:schemeClr val="accent2"/>
                </a:solidFill>
              </a:rPr>
              <a:t>Class</a:t>
            </a:r>
            <a:r>
              <a:rPr lang="en-US" dirty="0"/>
              <a:t> </a:t>
            </a:r>
            <a:endParaRPr lang="ar-EG" dirty="0"/>
          </a:p>
          <a:p>
            <a:pPr marL="457200" lvl="1" indent="0">
              <a:buNone/>
            </a:pPr>
            <a:r>
              <a:rPr lang="ar-EG" sz="2000" dirty="0"/>
              <a:t>"A blueprint or template used to create objects".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 Example</a:t>
            </a:r>
            <a:r>
              <a:rPr lang="en-US" sz="2000" b="1" dirty="0"/>
              <a:t> </a:t>
            </a:r>
            <a:r>
              <a:rPr lang="en-US" sz="2000" dirty="0"/>
              <a:t>: person , Animal </a:t>
            </a:r>
            <a:endParaRPr lang="ar-EG" sz="2000" dirty="0"/>
          </a:p>
          <a:p>
            <a:pPr marL="457200" lvl="1" indent="0">
              <a:buNone/>
            </a:pPr>
            <a:r>
              <a:rPr lang="en-US" sz="1600" b="1" dirty="0"/>
              <a:t>human : </a:t>
            </a:r>
            <a:r>
              <a:rPr lang="en-US" sz="1600" dirty="0" err="1"/>
              <a:t>F_name</a:t>
            </a:r>
            <a:r>
              <a:rPr lang="en-US" sz="1600" dirty="0"/>
              <a:t> ,</a:t>
            </a:r>
            <a:r>
              <a:rPr lang="en-US" sz="1600" dirty="0" err="1"/>
              <a:t>L_name</a:t>
            </a:r>
            <a:r>
              <a:rPr lang="en-US" sz="1600" dirty="0"/>
              <a:t> , birthdate , mail address , eat , send email , walk .</a:t>
            </a:r>
          </a:p>
          <a:p>
            <a:pPr marL="457200" lvl="1" indent="0">
              <a:buNone/>
            </a:pPr>
            <a:r>
              <a:rPr lang="en-US" sz="1600" b="1" dirty="0"/>
              <a:t>Animal : </a:t>
            </a:r>
            <a:r>
              <a:rPr lang="en-US" sz="1600" dirty="0"/>
              <a:t>category , </a:t>
            </a:r>
            <a:r>
              <a:rPr lang="en-US" sz="1600" dirty="0" err="1"/>
              <a:t>num_of_legs</a:t>
            </a:r>
            <a:r>
              <a:rPr lang="en-US" sz="1600" dirty="0"/>
              <a:t> , eat , walk .</a:t>
            </a:r>
            <a:endParaRPr lang="ar-EG" sz="1600" dirty="0"/>
          </a:p>
          <a:p>
            <a:pPr marL="457200" lvl="1" indent="0">
              <a:buNone/>
            </a:pPr>
            <a:endParaRPr lang="ar-EG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ar-EG" dirty="0"/>
              <a:t> </a:t>
            </a:r>
            <a:r>
              <a:rPr lang="ar-EG" dirty="0">
                <a:solidFill>
                  <a:schemeClr val="accent2"/>
                </a:solidFill>
              </a:rPr>
              <a:t>Features of OOP </a:t>
            </a:r>
            <a:endParaRPr lang="en-US" dirty="0">
              <a:solidFill>
                <a:schemeClr val="accent2"/>
              </a:solidFill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ar-EG" sz="1600" b="1" dirty="0"/>
              <a:t>Bottom-up approach </a:t>
            </a:r>
            <a:r>
              <a:rPr lang="ar-EG" sz="1600" dirty="0"/>
              <a:t>in program design. </a:t>
            </a:r>
            <a:endParaRPr lang="en-US" sz="1600" dirty="0"/>
          </a:p>
          <a:p>
            <a:pPr marL="1371600" lvl="2" indent="-457200">
              <a:buFont typeface="+mj-lt"/>
              <a:buAutoNum type="arabicPeriod"/>
            </a:pPr>
            <a:r>
              <a:rPr lang="ar-EG" sz="1600" b="1" dirty="0"/>
              <a:t>Programs organized </a:t>
            </a:r>
            <a:r>
              <a:rPr lang="ar-EG" sz="1600" dirty="0"/>
              <a:t>around objects, grouped in classes.</a:t>
            </a:r>
            <a:endParaRPr lang="en-US" sz="1600" dirty="0"/>
          </a:p>
          <a:p>
            <a:pPr marL="1371600" lvl="2" indent="-457200">
              <a:buFont typeface="+mj-lt"/>
              <a:buAutoNum type="arabicPeriod"/>
            </a:pPr>
            <a:r>
              <a:rPr lang="ar-EG" sz="1600" b="1" dirty="0"/>
              <a:t>Focus on data </a:t>
            </a:r>
            <a:r>
              <a:rPr lang="ar-EG" sz="1600" dirty="0"/>
              <a:t>with methods to operate upon object’s data.</a:t>
            </a:r>
          </a:p>
          <a:p>
            <a:pPr marL="1371600" lvl="2" indent="-457200">
              <a:buFont typeface="+mj-lt"/>
              <a:buAutoNum type="arabicPeriod"/>
            </a:pPr>
            <a:r>
              <a:rPr lang="ar-EG" sz="1600" b="1" dirty="0"/>
              <a:t>Interaction</a:t>
            </a:r>
            <a:r>
              <a:rPr lang="ar-EG" sz="1600" dirty="0"/>
              <a:t> between objects through functions.</a:t>
            </a:r>
          </a:p>
          <a:p>
            <a:pPr marL="1371600" lvl="2" indent="-457200">
              <a:buFont typeface="+mj-lt"/>
              <a:buAutoNum type="arabicPeriod"/>
            </a:pPr>
            <a:r>
              <a:rPr lang="ar-EG" sz="1600" b="1" dirty="0"/>
              <a:t>Reusability</a:t>
            </a:r>
            <a:r>
              <a:rPr lang="ar-EG" sz="1600" dirty="0"/>
              <a:t> of design through creation of new classes by adding features to existing classes.</a:t>
            </a:r>
            <a:endParaRPr lang="ar-EG" b="1" dirty="0"/>
          </a:p>
        </p:txBody>
      </p:sp>
    </p:spTree>
    <p:extLst>
      <p:ext uri="{BB962C8B-B14F-4D97-AF65-F5344CB8AC3E}">
        <p14:creationId xmlns:p14="http://schemas.microsoft.com/office/powerpoint/2010/main" val="2870498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DDE6-8369-1489-AB89-47EE7541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EG" sz="4000" dirty="0"/>
              <a:t>✍Features of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2F50-3458-9DF0-4728-58291FFB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30426"/>
          </a:xfrm>
        </p:spPr>
        <p:txBody>
          <a:bodyPr>
            <a:normAutofit/>
          </a:bodyPr>
          <a:lstStyle/>
          <a:p>
            <a:r>
              <a:rPr lang="ar-EG" sz="2400" dirty="0"/>
              <a:t>Object-Oriented Programming has four main features:</a:t>
            </a:r>
            <a:endParaRPr lang="en-US" sz="2400" dirty="0"/>
          </a:p>
          <a:p>
            <a:pPr marL="0" indent="0">
              <a:buNone/>
            </a:pP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ar-EG" sz="2000" dirty="0"/>
              <a:t>Encapsulation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ar-EG" sz="2000" dirty="0"/>
              <a:t>Polymorphism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sz="2000" dirty="0"/>
              <a:t>Inheritance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ar-EG" sz="2000" dirty="0"/>
              <a:t>Abstraction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ar-EG" sz="2000" dirty="0"/>
              <a:t>"These features help us build software that is </a:t>
            </a:r>
            <a:r>
              <a:rPr lang="ar-EG" sz="2000" b="1" dirty="0">
                <a:solidFill>
                  <a:srgbClr val="FFC000"/>
                </a:solidFill>
              </a:rPr>
              <a:t>reusable</a:t>
            </a:r>
            <a:r>
              <a:rPr lang="ar-EG" sz="2000" b="1" dirty="0"/>
              <a:t>, </a:t>
            </a:r>
            <a:r>
              <a:rPr lang="ar-EG" sz="2000" b="1" dirty="0">
                <a:solidFill>
                  <a:srgbClr val="FFC000"/>
                </a:solidFill>
              </a:rPr>
              <a:t>maintainable</a:t>
            </a:r>
            <a:r>
              <a:rPr lang="ar-EG" sz="2000" b="1" dirty="0"/>
              <a:t>, and </a:t>
            </a:r>
            <a:r>
              <a:rPr lang="ar-EG" sz="2000" b="1" dirty="0">
                <a:solidFill>
                  <a:srgbClr val="FFC000"/>
                </a:solidFill>
              </a:rPr>
              <a:t>easier</a:t>
            </a:r>
            <a:r>
              <a:rPr lang="ar-EG" sz="2000" b="1" dirty="0"/>
              <a:t> </a:t>
            </a:r>
            <a:r>
              <a:rPr lang="ar-EG" sz="2000" dirty="0"/>
              <a:t>to</a:t>
            </a:r>
            <a:r>
              <a:rPr lang="ar-EG" sz="2000" b="1" dirty="0"/>
              <a:t>           </a:t>
            </a:r>
            <a:r>
              <a:rPr lang="ar-EG" sz="2000" dirty="0"/>
              <a:t>manage.</a:t>
            </a:r>
            <a:r>
              <a:rPr lang="en-US" sz="2000" dirty="0"/>
              <a:t>”</a:t>
            </a:r>
            <a:endParaRPr lang="ar-EG" sz="20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3984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6E4B54-88DC-FB6C-2752-90D3C7116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6448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5371DF-BB47-44A0-621C-8FA18575C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44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2074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6D02885-2650-9674-16DD-1B136D332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9474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D4FC06-210C-7149-5407-95C34A9D2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42"/>
          <a:stretch>
            <a:fillRect/>
          </a:stretch>
        </p:blipFill>
        <p:spPr>
          <a:xfrm>
            <a:off x="20" y="48641"/>
            <a:ext cx="12191979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027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A59D80-D43B-A5D1-3934-7952F1DB8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-2" b="495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30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B5F84D-19A4-449C-0674-B0FF9F9BA1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54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823E1-75C1-C136-945A-A3535290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495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65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07AF33-1FC1-69AB-ADC2-CD66E3D46F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495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75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36AFDD-2958-3377-7799-7D871AD0A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495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7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65C57-D90A-AACD-CEB2-182FD669F4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495"/>
          <a:stretch>
            <a:fillRect/>
          </a:stretch>
        </p:blipFill>
        <p:spPr>
          <a:xfrm>
            <a:off x="-6588" y="16636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10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2FA123-EBA2-F160-C37E-8B06252841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53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06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8DFC31-2AD0-8F59-A3F6-B3CF003A81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0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01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4E68339-1B90-44F9-BCC4-4600A6E24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A83E9-525A-76BD-B777-E26DC859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712" y="2400475"/>
            <a:ext cx="9142288" cy="20682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 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C145E588-3BCF-3BE2-F1BC-2AA8BD7DB6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8070" y="1133637"/>
            <a:ext cx="1075860" cy="10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42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D46B65-A8D7-4BB2-BE84-7B4A31E1CE59}">
  <we:reference id="wa104178141" version="4.3.3.0" store="en-US" storeType="OMEX"/>
  <we:alternateReferences>
    <we:reference id="WA104178141" version="4.3.3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314</Words>
  <Application>Microsoft Office PowerPoint</Application>
  <PresentationFormat>Widescreen</PresentationFormat>
  <Paragraphs>57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Mastering (oop) using c++</vt:lpstr>
      <vt:lpstr>✍ Structured Programming ? </vt:lpstr>
      <vt:lpstr>✍Introduction to OOP</vt:lpstr>
      <vt:lpstr>✍Class vs Instance</vt:lpstr>
      <vt:lpstr>✍Features of 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2</cp:revision>
  <dcterms:created xsi:type="dcterms:W3CDTF">2026-08-08T13:25:12Z</dcterms:created>
  <dcterms:modified xsi:type="dcterms:W3CDTF">2026-08-08T22:22:57Z</dcterms:modified>
</cp:coreProperties>
</file>